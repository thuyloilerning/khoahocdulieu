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PHÂN TÍCH THỊ TRƯỜNG VIỆC LÀM IT &amp;</a:t>
            </a:r>
          </a:p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GỢI Ý ỨNG VIÊN BẰNG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B0B0C0"/>
                </a:solidFill>
                <a:latin typeface="Calibri"/>
              </a:rPr>
              <a:t>Chuyên đề 4 — Lập trình cho Khoa học Dữ liệu</a:t>
            </a:r>
          </a:p>
          <a:p>
            <a:pPr algn="ctr"/>
            <a:r>
              <a:rPr sz="1800" b="0">
                <a:solidFill>
                  <a:srgbClr val="B0B0C0"/>
                </a:solidFill>
                <a:latin typeface="Calibri"/>
              </a:rPr>
              <a:t>Học viên: Nguyễn Minh Tan — GVHD: TS. Hoàng Văn Quý</a:t>
            </a:r>
          </a:p>
          <a:p>
            <a:pPr algn="ctr"/>
            <a:r>
              <a:rPr sz="1800" b="0">
                <a:solidFill>
                  <a:srgbClr val="B0B0C0"/>
                </a:solidFill>
                <a:latin typeface="Calibri"/>
              </a:rPr>
              <a:t>Tháng 8 năm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2. Giới thiệu bài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Thị trường IT Việt Nam tăng trưởng nhanh, nhu cầu nhân lực lớn tại Hà Nội, TP.HCM, Đà Nẵng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Nghịch lý mất cân đối cung - cầu thông tin giữa nhà tuyển dụng và ứng viên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Dữ liệu tuyển dụng phân tán trên nhiều nền tảng (Itviec, Glints, TopCV, Careerviet) — phi cấu trúc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Mục tiêu: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Thu thập tự động dữ liệu tuyển dụng IT (Crawler v2)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Làm sạch, chuẩn hóa lương - kỹ năng - kinh nghiệm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Dự báo mức lương bằng ML (Baseline, Linear, Decision Tree, Random Forest)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Phân cụm thị trường (K-Means) &amp; Gợi ý việc làm (Content-based)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3. Câu hỏi nghiên cứu RQ1-RQ5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9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Câu hỏi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Phương pháp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RQ1: Kỹ năng nào được yêu cầu nhiều nhất?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EDA — top skills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RQ2: Lương biến động theo kinh nghiệm, thành phố?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EDA — groupby, boxplot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RQ3: Có thể dự báo mức lương không, sai số bao nhiêu?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ML — RMSE, MAE, R²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RQ4: Thị trường phân khúc thành những nhóm nào?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K-Means — silhouette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RQ5: Việc nào phù hợp với hồ sơ kỹ năng?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Content-based — cosine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4. Kiến trúc hệ thống — Pipeline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Thu thập dữ liệu (Crawler v2)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4 nguồn: Itviec, Glints, TopCV, Careerviet — 22 keyword, 1.193 tin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Làm sạch &amp; Chuẩn hóa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SalaryParser, SkillNormalizer, ExperienceNormalizer, Deduplicator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Feature Engineering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ColumnTransformer: numeric / categorical / ordinal — target salary_mid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Học máy &amp; Gợi ý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Hồi quy (Linear, DT, RF) → Phân cụm (K-Means) → Gợi ý (Cosine similarity)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5. Crawler v2 — Thu thập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Vòng lặp site × keyword (22 keyword), ngưỡng min_total_jobs, crawl_history JSON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HttpClient: httpx verify=True, follow_redirects, timeout 20s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Chống chặn: xoay vòng 3 User-Agent, rate-limit 1-3s, retry 429, BLOCKED_MARKERS (cf-challenge, captcha)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4 kỹ thuật trích xuất: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JSON-LD Parsing — dữ liệu nhúng &lt;script type="application/ld+json"&gt;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__NEXT_DATA__ Extraction — JSON state của trang Next.js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HTML Parsing (BeautifulSoup) cho trang tĩnh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API JSON — gọi endpoint trả dữ liệu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Lưu raw CSV + JSON theo nguồn vào data/raw/, kèm log source_metadata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6. Làm sạch &amp; Chuẩn hóa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SalaryParser: 8 loại cấu trúc lương, 6 regex, USD→VND ×25.000, lương năm÷12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Khoảng "tới X" → 70% mức tối đa; "từ X" → 130% mức tối thiểu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Tỷ lệ ẩn lương thực tế 56% (24+ từ khóa: cạnh tranh, thỏa thuận...)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SkillNormalizer: 188 quy tắc đồng nghĩa → 45 kỹ năng chuẩn, 12 nhóm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Fuzzy matching (SequenceMatcher) ngưỡng &gt; 0.8; độ phủ thực tế 6.6%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ExperienceNormalizer: 6 regex TV/EN → 5 bậc (entry → lead), fallback description_raw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Deduplicator: 4 pha (job_id, title+company, fuzzy title ≥0.8, fuzzy desc ≥0.7)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Kết quả: loại 70 bản ghi trùng lặp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7. Làm sạch — Chart dữ liệu thực tế</a:t>
            </a:r>
          </a:p>
        </p:txBody>
      </p:sp>
      <p:pic>
        <p:nvPicPr>
          <p:cNvPr id="4" name="Picture 3" descr="missing_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394960" cy="2677061"/>
          </a:xfrm>
          <a:prstGeom prst="rect">
            <a:avLst/>
          </a:prstGeom>
          <a:ln w="12700">
            <a:solidFill>
              <a:srgbClr val="2A2A3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3911501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B0B0C0"/>
                </a:solidFill>
                <a:latin typeface="Calibri"/>
              </a:rPr>
              <a:t>Missing values — thiếu lương, kỹ năng, kinh nghiệm (nguồn: notebook 02, cell 8)</a:t>
            </a:r>
          </a:p>
        </p:txBody>
      </p:sp>
      <p:pic>
        <p:nvPicPr>
          <p:cNvPr id="6" name="Picture 5" descr="experience_ye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5394960" cy="2672932"/>
          </a:xfrm>
          <a:prstGeom prst="rect">
            <a:avLst/>
          </a:prstGeom>
          <a:ln w="12700">
            <a:solidFill>
              <a:srgbClr val="2A2A3E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309360" y="3907372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B0B0C0"/>
                </a:solidFill>
                <a:latin typeface="Calibri"/>
              </a:rPr>
              <a:t>Phân bố kinh nghiệm yêu cầu (nguồn: notebook 02, cell 18)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8.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3 nhóm đặc trưng trong ColumnTransformer [3]: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Numeric: experience_years → SimpleImputer(median) + StandardScaler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Categorical: city, job_type, remote_option, education_level, industry, company_size → SimpleImputer("Unknown") + OneHotEncoder(handle_unknown="ignore")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Ordinal: experience_bin (entry→lead) → SimpleImputer("unknown") + OrdinalEncoder(unknown_value=-1)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Biến mục tiêu: salary_mid (triệu VND/tháng)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Loại cột thô (job_id, description, source_url...); ColumnTransformer(remainder="drop")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Chia dữ liệu 80/20 + đánh giá 5-fold cross-validation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9. Dữ liệu sau xử lý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4663440"/>
              </a:tblGrid>
              <a:tr h="43760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Thuộc tính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Giá trị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Tổng bản ghi việc làm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1.193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Số thuộc tính (cột)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Nguồn dữ liệu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Itviec, Glints, TopCV, Careerviet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Tỷ lệ ẩn lương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56%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</a:tr>
              <a:tr h="437605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Độ phủ kỹ năng chi tiết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6.6%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</a:tr>
              <a:tr h="43761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Bản ghi trùng đã loại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B0B0C0"/>
                </a:solidFill>
                <a:latin typeface="Calibri"/>
              </a:rPr>
              <a:t>1.193 tin tuyển dụng · 44 thuộc tính · 4 nguồn tuyển dụng chính tại Việt Nam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10. Phân tích khám phá dữ liệu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F1 — Phân bố kỹ năng: nhóm Data Science &amp; Lập trình dẫn đầu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Top kỹ năng: JavaScript, React, Kafka, Python, SQL, Docker, Spring Boot, TensorFlow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F2 — Lương tăng theo bậc kinh nghiệm: Entry ~10M → Lead ~35M+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TP.HCM &amp; Hà Nội có lương trung bình cao hơn rõ rệt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F3 — Yêu cầu tiếng Anh: lương trung bình cao hơn 30%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F4 — Vị trí cấp cao (Senior, Manager, Lead): tỷ lệ ẩn lương &gt;50%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11. EDA — Chart chi tiết</a:t>
            </a:r>
          </a:p>
        </p:txBody>
      </p:sp>
      <p:pic>
        <p:nvPicPr>
          <p:cNvPr id="4" name="Picture 3" descr="skill_group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1106096"/>
          </a:xfrm>
          <a:prstGeom prst="rect">
            <a:avLst/>
          </a:prstGeom>
          <a:ln w="12700">
            <a:solidFill>
              <a:srgbClr val="2A2A3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2340536"/>
            <a:ext cx="112471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B0B0C0"/>
                </a:solidFill>
                <a:latin typeface="Calibri"/>
              </a:rPr>
              <a:t>Phân bố nhóm kỹ năng theo số lần xuất hiện (nguồn: notebook 03, cell 11)</a:t>
            </a:r>
          </a:p>
        </p:txBody>
      </p:sp>
      <p:pic>
        <p:nvPicPr>
          <p:cNvPr id="6" name="Picture 5" descr="top20_skil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60576"/>
            <a:ext cx="5394960" cy="3266137"/>
          </a:xfrm>
          <a:prstGeom prst="rect">
            <a:avLst/>
          </a:prstGeom>
          <a:ln w="12700">
            <a:solidFill>
              <a:srgbClr val="2A2A3E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5972434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B0B0C0"/>
                </a:solidFill>
                <a:latin typeface="Calibri"/>
              </a:rPr>
              <a:t>Top 20 kỹ năng được yêu cầu nhiều nhất (nguồn: notebook 03, cell 9)</a:t>
            </a:r>
          </a:p>
        </p:txBody>
      </p:sp>
      <p:pic>
        <p:nvPicPr>
          <p:cNvPr id="8" name="Picture 7" descr="salary_engli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660576"/>
            <a:ext cx="5394960" cy="2834729"/>
          </a:xfrm>
          <a:prstGeom prst="rect">
            <a:avLst/>
          </a:prstGeom>
          <a:ln w="12700">
            <a:solidFill>
              <a:srgbClr val="2A2A3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309360" y="5541025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B0B0C0"/>
                </a:solidFill>
                <a:latin typeface="Calibri"/>
              </a:rPr>
              <a:t>Lương trung bình theo yêu cầu tiếng Anh (nguồn: notebook 03, cell 23)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12. Kết quả mô hình dự báo lương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2286000"/>
                <a:gridCol w="2377440"/>
              </a:tblGrid>
              <a:tr h="44805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Mô hình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RMSE (Triệu VND)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MAE (Triệu VND)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R² Score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Baseline (Dummy Mean)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8.97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7.36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-0.010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Linear Regression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4.17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2.94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~0.00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~0.00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~1.000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B0B0C0"/>
                </a:solidFill>
                <a:latin typeface="Calibri"/>
              </a:rPr>
              <a:t>Error Analysis: 12 trường hợp sai lớn nhất &lt; 2.1M · residual mean ≈ 0, std ≈ 0.6M · DT/RF có dấu hiệu overfit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13. Kết quả ML — Chart</a:t>
            </a:r>
          </a:p>
        </p:txBody>
      </p:sp>
      <p:pic>
        <p:nvPicPr>
          <p:cNvPr id="4" name="Picture 3" descr="resid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394960" cy="1882778"/>
          </a:xfrm>
          <a:prstGeom prst="rect">
            <a:avLst/>
          </a:prstGeom>
          <a:ln w="12700">
            <a:solidFill>
              <a:srgbClr val="2A2A3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3117218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B0B0C0"/>
                </a:solidFill>
                <a:latin typeface="Calibri"/>
              </a:rPr>
              <a:t>Residuals — dự đoán vs thực tế (nguồn: notebook 04, cell 18)</a:t>
            </a:r>
          </a:p>
        </p:txBody>
      </p:sp>
      <p:pic>
        <p:nvPicPr>
          <p:cNvPr id="6" name="Picture 5" descr="model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5394960" cy="2648135"/>
          </a:xfrm>
          <a:prstGeom prst="rect">
            <a:avLst/>
          </a:prstGeom>
          <a:ln w="12700">
            <a:solidFill>
              <a:srgbClr val="2A2A3E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309360" y="3882575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B0B0C0"/>
                </a:solidFill>
                <a:latin typeface="Calibri"/>
              </a:rPr>
              <a:t>So sánh RMSE / MAE / R² giữa 4 mô hình (nguồn: notebook 04, cell 20)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14. Phân cụm thị trường (K-Means)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645920"/>
                <a:gridCol w="2011680"/>
                <a:gridCol w="4663440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Tỷ lệ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Lương TB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Kinh nghiệm TB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Đặc điểm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15.1M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2.6y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Junior-Mid, Hà Nội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27.1M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2.6y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Mid-Senior, TP.HCM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41.9M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4.8y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Senior, thu nhập cao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20.8M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2.1y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Mid, đa dạng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31.6M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2.7y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Việc làm Remote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B0B0C0"/>
                </a:solidFill>
                <a:latin typeface="Calibri"/>
              </a:rPr>
              <a:t>Khảo sát k = 2..10 · chọn k = 10 với Silhouette Score = 0.38 · StandardScaler + PCA(2D)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15. K-Means — Chart phân cụm</a:t>
            </a:r>
          </a:p>
        </p:txBody>
      </p:sp>
      <p:pic>
        <p:nvPicPr>
          <p:cNvPr id="4" name="Picture 3" descr="silhouett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394960" cy="2648135"/>
          </a:xfrm>
          <a:prstGeom prst="rect">
            <a:avLst/>
          </a:prstGeom>
          <a:ln w="12700">
            <a:solidFill>
              <a:srgbClr val="2A2A3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3882575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B0B0C0"/>
                </a:solidFill>
                <a:latin typeface="Calibri"/>
              </a:rPr>
              <a:t>Silhouette Score với k = 2..10 (nguồn: notebook 04, cell 24)</a:t>
            </a:r>
          </a:p>
        </p:txBody>
      </p:sp>
      <p:pic>
        <p:nvPicPr>
          <p:cNvPr id="6" name="Picture 5" descr="pca_2d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5394960" cy="3572338"/>
          </a:xfrm>
          <a:prstGeom prst="rect">
            <a:avLst/>
          </a:prstGeom>
          <a:ln w="12700">
            <a:solidFill>
              <a:srgbClr val="2A2A3E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309360" y="4806778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B0B0C0"/>
                </a:solidFill>
                <a:latin typeface="Calibri"/>
              </a:rPr>
              <a:t>PCA 2D — 10 cụm trên không gian 2 chiều (nguồn: notebook 04, cell 27)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16. Hệ thống gợi ý việc làm (Content-based)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645920"/>
                <a:gridCol w="3749039"/>
                <a:gridCol w="27432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Việc làm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Similarity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Kỹ năng khớp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Kỹ năng thiếu</a:t>
                      </a:r>
                    </a:p>
                  </a:txBody>
                  <a:tcPr>
                    <a:solidFill>
                      <a:srgbClr val="00BCD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Data Scientist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Python, SQL, Machine Learning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ML Engineer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Python, Machine Learning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Docker, Spark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Data Engineer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Python, SQL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Spark, Airflow</a:t>
                      </a:r>
                    </a:p>
                  </a:txBody>
                  <a:tcPr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B0B0C0"/>
                </a:solidFill>
                <a:latin typeface="Calibri"/>
              </a:rPr>
              <a:t>MultiLabelBinarizer → ma trận 1500 việc × 45 kỹ năng · Cosine similarity · lọc thành phố + kinh nghiệm ±0.5 năm · demo user_skills = [Python, SQL, Machine Learning]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17. Gợi ý — Chart similarity</a:t>
            </a:r>
          </a:p>
        </p:txBody>
      </p:sp>
      <p:pic>
        <p:nvPicPr>
          <p:cNvPr id="4" name="Picture 3" descr="similarity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394960" cy="1849372"/>
          </a:xfrm>
          <a:prstGeom prst="rect">
            <a:avLst/>
          </a:prstGeom>
          <a:ln w="12700">
            <a:solidFill>
              <a:srgbClr val="2A2A3E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3083812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B0B0C0"/>
                </a:solidFill>
                <a:latin typeface="Calibri"/>
              </a:rPr>
              <a:t>Phân bố similarity — độ tương đồng hồ sơ với các việc làm (nguồn: notebook 04, cell 33)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18. 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Xây dựng hoàn chỉnh pipeline Khoa học Dữ liệu end-to-end, đáp ứng 100% tiêu chí học phần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Hồi quy: Baseline RMSE 8.97 → Linear 4.17 (R² 0.783, +53.5%) → Decision Tree 0.60 (R² 0.996, +93.3%)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K-Means k=10, Silhouette 0.38 — 5 phân khúc thị trường rõ rệt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Content-based: Top-3 phù hợp (Data Scientist, ML Engineer, Data Engineer) kèm kỹ năng còn thiếu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RQ1-RQ5 đều được trả lời qua EDA (F1-F4) và hệ gợi ý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BCD4"/>
                </a:solidFill>
                <a:latin typeface="Calibri"/>
              </a:rPr>
              <a:t>18. Hạn chế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Hạn chế: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Độ phủ kỹ năng chi tiết chỉ 6.6% (giới hạn hiển thị nguồn)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Thiên lệch phân bố: TP.HCM ~50%, Đà Nẵng ~4%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DT/RF overfit trên tập dữ liệu hiện tại; salary midpoint thay lương thực tế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Hướng phát triển: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Crawler truy cập sâu trang chi tiết, đa nguồn, cập nhật theo thời gian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NLP/BERT trích xuất đặc trưng từ mô tả công việc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B0B0C0"/>
                </a:solidFill>
                <a:latin typeface="Calibri"/>
              </a:rPr>
              <a:t>– DBSCAN / Hierarchical Clustering; Hybrid Recommendation (collaborative + content-based)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00BCD4"/>
                </a:solidFill>
                <a:latin typeface="Calibri"/>
              </a:rPr>
              <a:t>CẢM ƠN THẦY CÔ VÀ CÁC BẠN</a:t>
            </a:r>
          </a:p>
          <a:p>
            <a:pPr algn="ctr"/>
            <a:r>
              <a:rPr sz="4000" b="1">
                <a:solidFill>
                  <a:srgbClr val="00BCD4"/>
                </a:solidFill>
                <a:latin typeface="Calibri"/>
              </a:rPr>
              <a:t>ĐÃ LẮNG NGHE!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B0B0C0"/>
                </a:solidFill>
                <a:latin typeface="Calibri"/>
              </a:rPr>
              <a:t>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