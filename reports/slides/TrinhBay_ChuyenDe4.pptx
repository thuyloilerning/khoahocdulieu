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1F2937"/>
                </a:solidFill>
                <a:latin typeface="Calibri"/>
              </a:rPr>
              <a:t>PHÂN TÍCH THỊ TRƯỜNG VIỆC LÀM IT &amp;</a:t>
            </a:r>
          </a:p>
          <a:p>
            <a:pPr algn="ctr"/>
            <a:r>
              <a:rPr sz="3400" b="1">
                <a:solidFill>
                  <a:srgbClr val="1F2937"/>
                </a:solidFill>
                <a:latin typeface="Calibri"/>
              </a:rPr>
              <a:t>GỢI Ý ỨNG VIÊN BẰNG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Calibri"/>
              </a:rPr>
              <a:t>Chuyên đề 4 — Lập trình cho Khoa học Dữ liệu</a:t>
            </a:r>
          </a:p>
          <a:p>
            <a:pPr algn="ctr"/>
            <a:r>
              <a:rPr sz="1800" b="0">
                <a:solidFill>
                  <a:srgbClr val="6B7280"/>
                </a:solidFill>
                <a:latin typeface="Calibri"/>
              </a:rPr>
              <a:t>Học viên: Nguyễn Minh Tan — GVHD: TS. Hoàng Văn Quý</a:t>
            </a:r>
          </a:p>
          <a:p>
            <a:pPr algn="ctr"/>
            <a:r>
              <a:rPr sz="1800" b="0">
                <a:solidFill>
                  <a:srgbClr val="6B7280"/>
                </a:solidFill>
                <a:latin typeface="Calibri"/>
              </a:rPr>
              <a:t>Tháng 8 năm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2. Nội dung trình bày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GIỚI THIỆU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Phần 1 – Giới thiệu &amp; Mục tiêu</a:t>
            </a:r>
            <a:r>
              <a:rPr sz="1700" b="0">
                <a:solidFill>
                  <a:srgbClr val="1F2937"/>
                </a:solidFill>
                <a:latin typeface="Calibri"/>
              </a:rPr>
              <a:t> (Slide 3-4)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Phần 2 – Phương pháp Xử lý dữ liệu</a:t>
            </a:r>
            <a:r>
              <a:rPr sz="1700" b="0">
                <a:solidFill>
                  <a:srgbClr val="1F2937"/>
                </a:solidFill>
                <a:latin typeface="Calibri"/>
              </a:rPr>
              <a:t> (Slide 5-9)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Phần 3 – Phân tích khám phá (EDA)</a:t>
            </a:r>
            <a:r>
              <a:rPr sz="1700" b="0">
                <a:solidFill>
                  <a:srgbClr val="1F2937"/>
                </a:solidFill>
                <a:latin typeface="Calibri"/>
              </a:rPr>
              <a:t> (Slide 10-12)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Phần 4 – Kết quả mô hình ML</a:t>
            </a:r>
            <a:r>
              <a:rPr sz="1700" b="0">
                <a:solidFill>
                  <a:srgbClr val="1F2937"/>
                </a:solidFill>
                <a:latin typeface="Calibri"/>
              </a:rPr>
              <a:t> (Slide 13-20)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Phần 5 – Kết luận &amp; Hướng phát triển</a:t>
            </a:r>
            <a:r>
              <a:rPr sz="1700" b="0">
                <a:solidFill>
                  <a:srgbClr val="1F2937"/>
                </a:solidFill>
                <a:latin typeface="Calibri"/>
              </a:rPr>
              <a:t> (Slide 21-23)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3. Giới thiệu bài toán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GIỚI THIỆU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Thị trường IT Việt Nam đang phát triển nhanh, nhu cầu tuyển dụng tập trung tại Hà Nội, TP.HCM và Đà Nẵng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Tin tuyển dụng phân tán trên nhiều nền tảng với định dạng tự do — ứng viên rất khó so sánh lương và kỹ năng giữa các nguồn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Bốn nền tảng lớn (Itviec, Glints, TopCV, Careerviet) đăng tin theo các dạng khác nhau nên dữ liệu thu về không đồng nhất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Mục tiêu của đề tài</a:t>
            </a:r>
            <a:r>
              <a:rPr sz="1700" b="0">
                <a:solidFill>
                  <a:srgbClr val="1F2937"/>
                </a:solidFill>
                <a:latin typeface="Calibri"/>
              </a:rPr>
              <a:t> — xây dựng một pipeline xử lý dữ liệu trọn vẹn: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– Thu thập tự động tin tuyển dụng IT từ 4 nguồn bằng Crawler v2; làm sạch và chuẩn hóa lương, kỹ năng, kinh nghiệm về cùng một định dạng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– Dự báo mức lương thị trường bằng 4 mô hình ML và phân cụm K-Means, rồi gợi ý việc làm phù hợp với hồ sơ (Content-based)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989320"/>
            <a:ext cx="2594610" cy="12344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000" b="1">
                <a:solidFill>
                  <a:srgbClr val="2563EB"/>
                </a:solidFill>
                <a:latin typeface="Calibri"/>
              </a:rPr>
              <a:t>🗂️  1.193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tin tuyển dụng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371850" y="5989320"/>
            <a:ext cx="2594610" cy="12344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000" b="1">
                <a:solidFill>
                  <a:srgbClr val="2563EB"/>
                </a:solidFill>
                <a:latin typeface="Calibri"/>
              </a:rPr>
              <a:t>🌐  4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nguồn dữ liệu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5059" y="5989320"/>
            <a:ext cx="2594610" cy="12344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000" b="1">
                <a:solidFill>
                  <a:srgbClr val="2563EB"/>
                </a:solidFill>
                <a:latin typeface="Calibri"/>
              </a:rPr>
              <a:t>📋  44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thuộc tính</a:t>
            </a:r>
          </a:p>
        </p:txBody>
      </p:sp>
      <p:sp>
        <p:nvSpPr>
          <p:cNvPr id="9" name="Rectangle 8"/>
          <p:cNvSpPr/>
          <p:nvPr/>
        </p:nvSpPr>
        <p:spPr>
          <a:xfrm>
            <a:off x="9018269" y="5989320"/>
            <a:ext cx="2594610" cy="12344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000" b="1">
                <a:solidFill>
                  <a:srgbClr val="2563EB"/>
                </a:solidFill>
                <a:latin typeface="Calibri"/>
              </a:rPr>
              <a:t>🔒  56%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tin ẩn lương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4. Câu hỏi nghiên cứu RQ1-RQ5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PHƯƠNG PHÁP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39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4419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Câu hỏi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Phương pháp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RQ1: Kỹ năng nào được yêu cầu nhiều nhất?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EDA — top skills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RQ2: Lương biến động theo kinh nghiệm, thành phố?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EDA — groupby, boxplot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RQ3: Có thể dự báo mức lương không, sai số bao nhiêu?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ML — RMSE, MAE, R²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RQ4: Thị trường phân khúc thành những nhóm nào?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K-Means — silhouette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RQ5: Việc nào phù hợp với hồ sơ kỹ năng?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Content-based — cosine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5. Kiến trúc hệ thống — Pipeline end-to-end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PHƯƠNG PHÁP</a:t>
            </a:r>
          </a:p>
        </p:txBody>
      </p:sp>
      <p:sp>
        <p:nvSpPr>
          <p:cNvPr id="5" name="Rectangle 4"/>
          <p:cNvSpPr/>
          <p:nvPr/>
        </p:nvSpPr>
        <p:spPr>
          <a:xfrm>
            <a:off x="402336" y="1234440"/>
            <a:ext cx="2606040" cy="1600200"/>
          </a:xfrm>
          <a:prstGeom prst="rect">
            <a:avLst/>
          </a:prstGeom>
          <a:solidFill>
            <a:srgbClr val="F8FAFC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400" b="1">
                <a:solidFill>
                  <a:srgbClr val="2563EB"/>
                </a:solidFill>
                <a:latin typeface="Calibri"/>
              </a:rPr>
              <a:t>1. Thu thập dữ liệu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1F2937"/>
                </a:solidFill>
                <a:latin typeface="Calibri"/>
              </a:rPr>
              <a:t>Crawler v2 — 4 nguồn: Itviec, Glints, TopCV, Careerviet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1F2937"/>
                </a:solidFill>
                <a:latin typeface="Calibri"/>
              </a:rPr>
              <a:t>22 keyword · 1.193 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6664" y="1851660"/>
            <a:ext cx="28346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328416" y="1234440"/>
            <a:ext cx="2606040" cy="1600200"/>
          </a:xfrm>
          <a:prstGeom prst="rect">
            <a:avLst/>
          </a:prstGeom>
          <a:solidFill>
            <a:srgbClr val="F8FAFC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400" b="1">
                <a:solidFill>
                  <a:srgbClr val="2563EB"/>
                </a:solidFill>
                <a:latin typeface="Calibri"/>
              </a:rPr>
              <a:t>2. Làm sạch &amp; Chuẩn hóa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1F2937"/>
                </a:solidFill>
                <a:latin typeface="Calibri"/>
              </a:rPr>
              <a:t>SalaryParser · SkillNormalizer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1F2937"/>
                </a:solidFill>
                <a:latin typeface="Calibri"/>
              </a:rPr>
              <a:t>ExperienceNormalizer · Deduplicator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1F2937"/>
                </a:solidFill>
                <a:latin typeface="Calibri"/>
              </a:rPr>
              <a:t>loại 70 trùng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52744" y="1851660"/>
            <a:ext cx="28346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1234440"/>
            <a:ext cx="2606040" cy="1600200"/>
          </a:xfrm>
          <a:prstGeom prst="rect">
            <a:avLst/>
          </a:prstGeom>
          <a:solidFill>
            <a:srgbClr val="F8FAFC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400" b="1">
                <a:solidFill>
                  <a:srgbClr val="2563EB"/>
                </a:solidFill>
                <a:latin typeface="Calibri"/>
              </a:rPr>
              <a:t>3. Feature Engineering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1F2937"/>
                </a:solidFill>
                <a:latin typeface="Calibri"/>
              </a:rPr>
              <a:t>ColumnTransformer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1F2937"/>
                </a:solidFill>
                <a:latin typeface="Calibri"/>
              </a:rPr>
              <a:t>numeric / categorical / ordinal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1F2937"/>
                </a:solidFill>
                <a:latin typeface="Calibri"/>
              </a:rPr>
              <a:t>target: salary_mid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78824" y="1851660"/>
            <a:ext cx="28346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80576" y="1234440"/>
            <a:ext cx="2606040" cy="1600200"/>
          </a:xfrm>
          <a:prstGeom prst="rect">
            <a:avLst/>
          </a:prstGeom>
          <a:solidFill>
            <a:srgbClr val="F8FAFC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400" b="1">
                <a:solidFill>
                  <a:srgbClr val="2563EB"/>
                </a:solidFill>
                <a:latin typeface="Calibri"/>
              </a:rPr>
              <a:t>4. ML &amp; Gợi ý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1F2937"/>
                </a:solidFill>
                <a:latin typeface="Calibri"/>
              </a:rPr>
              <a:t>Hồi quy: Linear, DT, RF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1F2937"/>
                </a:solidFill>
                <a:latin typeface="Calibri"/>
              </a:rPr>
              <a:t>K-Means k=10 · Cosine similarity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1F2937"/>
                </a:solidFill>
                <a:latin typeface="Calibri"/>
              </a:rPr>
              <a:t>Top-3 việc phù hợp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</a:t>
            </a:r>
            <a:r>
              <a:rPr sz="1400" b="1">
                <a:solidFill>
                  <a:srgbClr val="2563EB"/>
                </a:solidFill>
                <a:latin typeface="Calibri"/>
              </a:rPr>
              <a:t>Thu thập dữ liệu:</a:t>
            </a:r>
            <a:r>
              <a:rPr sz="1400" b="0">
                <a:solidFill>
                  <a:srgbClr val="1F2937"/>
                </a:solidFill>
                <a:latin typeface="Calibri"/>
              </a:rPr>
              <a:t> Crawler v2 xoay vòng 3 User-Agent, giới hạn tốc độ 1-3 giây, chạy 22 từ khóa trên 4 nguồn, thu về 1.193 tin</a:t>
            </a:r>
          </a:p>
          <a:p>
            <a:pPr lvl="1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– Trích lọc theo 4 kỹ thuật (JSON-LD, __NEXT_DATA__, HTML, API) rồi lưu dạng raw CSV + JSON kèm siêu dữ liệu nguồn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</a:t>
            </a:r>
            <a:r>
              <a:rPr sz="1400" b="1">
                <a:solidFill>
                  <a:srgbClr val="2563EB"/>
                </a:solidFill>
                <a:latin typeface="Calibri"/>
              </a:rPr>
              <a:t>Làm sạch &amp; chuẩn hóa:</a:t>
            </a:r>
            <a:r>
              <a:rPr sz="1400" b="0">
                <a:solidFill>
                  <a:srgbClr val="1F2937"/>
                </a:solidFill>
                <a:latin typeface="Calibri"/>
              </a:rPr>
              <a:t> SalaryParser đọc 8 cấu trúc lương (56% tin ẩn lương), SkillNormalizer gộp 188 quy tắc thành 45 kỹ năng chuẩn</a:t>
            </a:r>
          </a:p>
          <a:p>
            <a:pPr lvl="1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– ExperienceNormalizer gán 5 bậc kinh nghiệm từ entry đến lead; Deduplicator loại 70 bản ghi trùng qua 4 pha kiểm tra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</a:t>
            </a:r>
            <a:r>
              <a:rPr sz="1400" b="1">
                <a:solidFill>
                  <a:srgbClr val="2563EB"/>
                </a:solidFill>
                <a:latin typeface="Calibri"/>
              </a:rPr>
              <a:t>Feature Engineering:</a:t>
            </a:r>
            <a:r>
              <a:rPr sz="1400" b="0">
                <a:solidFill>
                  <a:srgbClr val="1F2937"/>
                </a:solidFill>
                <a:latin typeface="Calibri"/>
              </a:rPr>
              <a:t> ColumnTransformer xử lý 3 nhóm đặc trưng — numeric (trung vị + chuẩn hóa), categorical (OneHot), ordinal</a:t>
            </a:r>
          </a:p>
          <a:p>
            <a:pPr lvl="1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– Loại bỏ cột thô, mục tiêu là salary_mid tính bằng triệu VND mỗi tháng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• </a:t>
            </a:r>
            <a:r>
              <a:rPr sz="1400" b="1">
                <a:solidFill>
                  <a:srgbClr val="2563EB"/>
                </a:solidFill>
                <a:latin typeface="Calibri"/>
              </a:rPr>
              <a:t>Mô hình &amp; gợi ý:</a:t>
            </a:r>
            <a:r>
              <a:rPr sz="1400" b="0">
                <a:solidFill>
                  <a:srgbClr val="1F2937"/>
                </a:solidFill>
                <a:latin typeface="Calibri"/>
              </a:rPr>
              <a:t> hồi quy giảm RMSE từ 8.97 xuống 4.17 (Linear) rồi 0.60 (Decision Tree)</a:t>
            </a:r>
          </a:p>
          <a:p>
            <a:pPr lvl="1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– K-Means với k = 10 đạt Silhouette 0.38; cosine similarity gợi ý Top-3 việc phù hợp cho hồ sơ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6. Crawler v2 — Thu thập dữ liệu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PHƯƠNG PHÁP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Crawler chạy vòng lặp qua từng nguồn và từ khóa (22 từ khóa), dừng khi đủ số tin tối thiểu, lịch sử ghi vào crawl_history.json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HttpClient (httpx)</a:t>
            </a:r>
            <a:r>
              <a:rPr sz="1700" b="0">
                <a:solidFill>
                  <a:srgbClr val="1F2937"/>
                </a:solidFill>
                <a:latin typeface="Calibri"/>
              </a:rPr>
              <a:t> bật xác thực SSL, tự động theo redirect và timeout 20 giây để hạn chế lỗi kết nối bị chặn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Chống chặn:</a:t>
            </a:r>
            <a:r>
              <a:rPr sz="1700" b="0">
                <a:solidFill>
                  <a:srgbClr val="1F2937"/>
                </a:solidFill>
                <a:latin typeface="Calibri"/>
              </a:rPr>
              <a:t> xoay vòng 3 User-Agent, giới hạn tốc độ 1-3 giây, thử lại khi máy chủ trả HTTP 429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Nhận diện trang bị chặn qua danh sách BLOCKED_MARKERS (captcha, cf-challenge)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4 kỹ thuật trích xuất</a:t>
            </a:r>
            <a:r>
              <a:rPr sz="1700" b="0">
                <a:solidFill>
                  <a:srgbClr val="1F2937"/>
                </a:solidFill>
                <a:latin typeface="Calibri"/>
              </a:rPr>
              <a:t> dữ liệu từ trang: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– JSON-LD Parsing — đọc dữ liệu nhúng trong thẻ script application/ld+json; __NEXT_DATA__ — lấy JSON state của trang Next.js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– HTML Parsing bằng BeautifulSoup cho các trang tĩnh; API JSON — gọi trực tiếp endpoint trả dữ liệu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Lưu dữ liệu thô dạng CSV + JSON theo từng nguồn vào data/raw/, kèm log siêu dữ liệu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7. Làm sạch &amp; Chuẩn hóa dữ liệu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PHƯƠNG PHÁP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63EB"/>
                </a:solidFill>
                <a:latin typeface="Calibri"/>
              </a:rPr>
              <a:t>Vấn đề dữ liệu gốc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2563EB"/>
                </a:solidFill>
                <a:latin typeface="Calibri"/>
              </a:rPr>
              <a:t>Lương:</a:t>
            </a:r>
            <a:r>
              <a:rPr sz="1400" b="0">
                <a:solidFill>
                  <a:srgbClr val="1F2937"/>
                </a:solidFill>
                <a:latin typeface="Calibri"/>
              </a:rPr>
              <a:t> 56% tin ẩn mức lương; còn lại viết dưới 8 dạng khác nhau (tới X, từ X, khoảng X-Y, v.v.)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2563EB"/>
                </a:solidFill>
                <a:latin typeface="Calibri"/>
              </a:rPr>
              <a:t>Kỹ năng:</a:t>
            </a:r>
            <a:r>
              <a:rPr sz="1400" b="0">
                <a:solidFill>
                  <a:srgbClr val="1F2937"/>
                </a:solidFill>
                <a:latin typeface="Calibri"/>
              </a:rPr>
              <a:t> Một kỹ năng có nhiều tên gọi (ví dụ: 'reactjs', 'react.js', 'react') gây nhiễu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2563EB"/>
                </a:solidFill>
                <a:latin typeface="Calibri"/>
              </a:rPr>
              <a:t>Kinh nghiệm:</a:t>
            </a:r>
            <a:r>
              <a:rPr sz="1400" b="0">
                <a:solidFill>
                  <a:srgbClr val="1F2937"/>
                </a:solidFill>
                <a:latin typeface="Calibri"/>
              </a:rPr>
              <a:t> Mô tả tự do ('1 năm', 'junior', '1-2 yrs') không có cấu trúc đồng nhất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2563EB"/>
                </a:solidFill>
                <a:latin typeface="Calibri"/>
              </a:rPr>
              <a:t>Trùng lặp:</a:t>
            </a:r>
            <a:r>
              <a:rPr sz="1400" b="0">
                <a:solidFill>
                  <a:srgbClr val="1F2937"/>
                </a:solidFill>
                <a:latin typeface="Calibri"/>
              </a:rPr>
              <a:t> Cùng một tin tuyển dụng được đăng lại trên nhiều nguồn hoặc nhiều ngày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23444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63EB"/>
                </a:solidFill>
                <a:latin typeface="Calibri"/>
              </a:rPr>
              <a:t>Cách xử lý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2563EB"/>
                </a:solidFill>
                <a:latin typeface="Calibri"/>
              </a:rPr>
              <a:t>SalaryParser</a:t>
            </a:r>
            <a:r>
              <a:rPr sz="1400" b="0">
                <a:solidFill>
                  <a:srgbClr val="1F2937"/>
                </a:solidFill>
                <a:latin typeface="Calibri"/>
              </a:rPr>
              <a:t>: 6 regex nhận diện 8 cấu trúc; USD→VND ×25.000; lương năm ô12; 'tđi X' ×0.7, 'tủ X' ×1.3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2563EB"/>
                </a:solidFill>
                <a:latin typeface="Calibri"/>
              </a:rPr>
              <a:t>SkillNormalizer</a:t>
            </a:r>
            <a:r>
              <a:rPr sz="1400" b="0">
                <a:solidFill>
                  <a:srgbClr val="1F2937"/>
                </a:solidFill>
                <a:latin typeface="Calibri"/>
              </a:rPr>
              <a:t>: 188 quy tạc đồng nghía → 45 kị näng chuẫn; fuzzy matching &gt;0.8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2563EB"/>
                </a:solidFill>
                <a:latin typeface="Calibri"/>
              </a:rPr>
              <a:t>ExperienceNormalizer</a:t>
            </a:r>
            <a:r>
              <a:rPr sz="1400" b="0">
                <a:solidFill>
                  <a:srgbClr val="1F2937"/>
                </a:solidFill>
                <a:latin typeface="Calibri"/>
              </a:rPr>
              <a:t>: 6 regex TV/EN → 5 bặc (entry → lead); gán -1 cho giá trị thiếu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2563EB"/>
                </a:solidFill>
                <a:latin typeface="Calibri"/>
              </a:rPr>
              <a:t>Deduplicator</a:t>
            </a:r>
            <a:r>
              <a:rPr sz="1400" b="0">
                <a:solidFill>
                  <a:srgbClr val="1F2937"/>
                </a:solidFill>
                <a:latin typeface="Calibri"/>
              </a:rPr>
              <a:t>: 4 pha (job_id, title+company, fuzzy title, fuzzy desc) → loᨑi 70 bản ghi trùng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8. Làm sạch — Chart dữ liệu thực tế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PHƯƠNG PHÁP</a:t>
            </a:r>
          </a:p>
        </p:txBody>
      </p:sp>
      <p:pic>
        <p:nvPicPr>
          <p:cNvPr id="5" name="Picture 4" descr="missing_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54864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37759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Tỷ lệ giá trị thiếu theo cột — salary_max và min_experience thiếu nhiều nhất do tin ẩn lương và mô tả tự do</a:t>
            </a:r>
          </a:p>
        </p:txBody>
      </p:sp>
      <p:pic>
        <p:nvPicPr>
          <p:cNvPr id="7" name="Picture 6" descr="experience_ye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234440"/>
            <a:ext cx="548640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4937759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Phân bố số năm kinh nghiệm — đỉnh ở 1-3 năm, phần lớn tin tuyển dụng thuộc cấp độ Junior và Mid-level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Calibri"/>
              </a:rPr>
              <a:t>Insight:</a:t>
            </a:r>
            <a:r>
              <a:rPr sz="1600" b="0">
                <a:solidFill>
                  <a:srgbClr val="1F2937"/>
                </a:solidFill>
                <a:latin typeface="Calibri"/>
              </a:rPr>
              <a:t> Sự thiếu hụt dữ liệu nghiêm trọng ở lương và kinh nghiệm chính là động lực cốt lõi để xây dựng các bộ SalaryParser và ExperienceNormalizer nhằm tạo ra tập dữ liệu chuẩn cho ML.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8. Feature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PHƯƠNG PHÁP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3 nhóm đặc trưng</a:t>
            </a:r>
            <a:r>
              <a:rPr sz="1700" b="0">
                <a:solidFill>
                  <a:srgbClr val="1F2937"/>
                </a:solidFill>
                <a:latin typeface="Calibri"/>
              </a:rPr>
              <a:t> trong ColumnTransformer [3]: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– Numeric (experience_years): điền giá trị thiếu bằng trung vị rồi chuẩn hóa về phân phối chuẩn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– Categorical (city, job_type, remote_option, education_level, industry, company_size): điền "Unknown" khi thiếu, OneHotEncoder bỏ qua giá trị mới lạ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– Ordinal (experience_bin từ entry đến lead): giữ thứ tự qua OrdinalEncoder, giá trị thiếu gán -1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Biến mục tiêu</a:t>
            </a:r>
            <a:r>
              <a:rPr sz="1700" b="0">
                <a:solidFill>
                  <a:srgbClr val="1F2937"/>
                </a:solidFill>
                <a:latin typeface="Calibri"/>
              </a:rPr>
              <a:t> là salary_mid (triệu VND/tháng)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Loại cột thô (job_id, description, source_url...); ColumnTransformer dùng remainder="drop"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Chia dữ liệu 80/20 và đánh giá 5-fold cross-validation để ước lượng độ ổn định của mô hình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10. Dữ liệu sau xử lý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PHÂN TÍCH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4663440"/>
              </a:tblGrid>
              <a:tr h="43760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Thuộc tính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Giá trị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Tổng bản ghi việc làm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1.193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Số thuộc tính (cột)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Nguồn dữ liệu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Itviec, Glints, TopCV, Careerviet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Tỷ lệ ẩn lương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56%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Độ phủ kỹ năng chi tiết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6.6%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3761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Bản ghi trùng đã loại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093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1.193 tin tuyển dụng · 44 thuộc tính · 4 nguồn tuyển dụng chính tại Việt Nam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892040"/>
            <a:ext cx="2594610" cy="12344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000" b="1">
                <a:solidFill>
                  <a:srgbClr val="2563EB"/>
                </a:solidFill>
                <a:latin typeface="Calibri"/>
              </a:rPr>
              <a:t>🗂️  1.193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tin tuyển dụng</a:t>
            </a:r>
          </a:p>
        </p:txBody>
      </p:sp>
      <p:sp>
        <p:nvSpPr>
          <p:cNvPr id="8" name="Rectangle 7"/>
          <p:cNvSpPr/>
          <p:nvPr/>
        </p:nvSpPr>
        <p:spPr>
          <a:xfrm>
            <a:off x="3371850" y="4892040"/>
            <a:ext cx="2594610" cy="12344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000" b="1">
                <a:solidFill>
                  <a:srgbClr val="2563EB"/>
                </a:solidFill>
                <a:latin typeface="Calibri"/>
              </a:rPr>
              <a:t>🌐  4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nguồn dữ liệu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5059" y="4892040"/>
            <a:ext cx="2594610" cy="12344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000" b="1">
                <a:solidFill>
                  <a:srgbClr val="2563EB"/>
                </a:solidFill>
                <a:latin typeface="Calibri"/>
              </a:rPr>
              <a:t>🔒  56%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tin ẩn lương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18269" y="4892040"/>
            <a:ext cx="2594610" cy="12344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000" b="1">
                <a:solidFill>
                  <a:srgbClr val="2563EB"/>
                </a:solidFill>
                <a:latin typeface="Calibri"/>
              </a:rPr>
              <a:t>🧩  6.6%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độ phủ kỹ năng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11. Phân tích khám phá dữ liệu (EDA)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PHÂN TÍCH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F1 — Nhóm kỹ năng</a:t>
            </a:r>
            <a:r>
              <a:rPr sz="1700" b="0">
                <a:solidFill>
                  <a:srgbClr val="1F2937"/>
                </a:solidFill>
                <a:latin typeface="Calibri"/>
              </a:rPr>
              <a:t> Data Science &amp; Lập trình xuất hiện nhiều nhất trong 1.193 tin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– Top kỹ năng được yêu cầu: JavaScript, React, Kafka, Python, SQL, Docker, Spring Boot, TensorFlow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F2 — Lương tăng theo bậc kinh nghiệm:</a:t>
            </a:r>
            <a:r>
              <a:rPr sz="1700" b="0">
                <a:solidFill>
                  <a:srgbClr val="1F2937"/>
                </a:solidFill>
                <a:latin typeface="Calibri"/>
              </a:rPr>
              <a:t> Entry ~10M → Mid ~17M → Senior ~28M → Lead ~35M+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– TP.HCM &amp; Hà Nội có lương trung bình cao hơn rõ rệt so với các thành phố khác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F3 — Yêu cầu tiếng Anh:</a:t>
            </a:r>
            <a:r>
              <a:rPr sz="1700" b="0">
                <a:solidFill>
                  <a:srgbClr val="1F2937"/>
                </a:solidFill>
                <a:latin typeface="Calibri"/>
              </a:rPr>
              <a:t> lương trung bình của tin yêu cầu tiếng Anh cao hơn ~30%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F4 — Vị trí cấp cao</a:t>
            </a:r>
            <a:r>
              <a:rPr sz="1700" b="0">
                <a:solidFill>
                  <a:srgbClr val="1F2937"/>
                </a:solidFill>
                <a:latin typeface="Calibri"/>
              </a:rPr>
              <a:t> (Senior, Manager, Lead) ẩn lương với tỷ lệ &gt;50%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12. EDA — Chart chi tiết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KẾT QUẢ</a:t>
            </a:r>
          </a:p>
        </p:txBody>
      </p:sp>
      <p:pic>
        <p:nvPicPr>
          <p:cNvPr id="5" name="Picture 4" descr="skill_group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1106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340536"/>
            <a:ext cx="112471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Tỷ lệ tin tuyển dụng theo từng nhóm kỹ năng</a:t>
            </a:r>
          </a:p>
        </p:txBody>
      </p:sp>
      <p:pic>
        <p:nvPicPr>
          <p:cNvPr id="7" name="Picture 6" descr="top20_skil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60576"/>
            <a:ext cx="5394960" cy="326613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972434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20 kỹ năng được nhà tuyển dụng yêu cầu nhiều nhất</a:t>
            </a:r>
          </a:p>
        </p:txBody>
      </p:sp>
      <p:pic>
        <p:nvPicPr>
          <p:cNvPr id="9" name="Picture 8" descr="salary_engli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660576"/>
            <a:ext cx="5394960" cy="28347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5541025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Lương trung bình ở tin có và không yêu cầu tiếng Anh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13. Kết quả mô hình dự báo lương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KẾT QUẢ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2286000"/>
                <a:gridCol w="2377440"/>
              </a:tblGrid>
              <a:tr h="44805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Mô hình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RMSE (Triệu VND)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MAE (Triệu VND)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R² Score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Baseline (Dummy Mean)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8.97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7.36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-0.010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Linear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4.17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0.783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~0.00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~0.00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~1.000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035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Linear giảm RMSE 53.5%, Decision Tree giảm 93.3% so với Baseline trung bình. 12 sai số lớn nhất đều dưới 2.1 triệu VND. Residual phân bố quanh mức 0 (std ≈ 0.6M) nên dự đoán không thiên lệch. Random Forest học vẹt (overfit) trên tập dữ liệu hiện tại.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14. SHAP — Giải thích mô hình Decision Tree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KẾT QUẢ</a:t>
            </a:r>
          </a:p>
        </p:txBody>
      </p:sp>
      <p:pic>
        <p:nvPicPr>
          <p:cNvPr id="5" name="Picture 4" descr="shap_tre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4306349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1264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SHAP summary plot (nguồn: scripts/generate_shap_plots.py)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1234440"/>
            <a:ext cx="49377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</a:t>
            </a:r>
            <a:r>
              <a:rPr sz="1500" b="1">
                <a:solidFill>
                  <a:srgbClr val="2563EB"/>
                </a:solidFill>
                <a:latin typeface="Calibri"/>
              </a:rPr>
              <a:t>TreeExplainer</a:t>
            </a:r>
            <a:r>
              <a:rPr sz="1500" b="0">
                <a:solidFill>
                  <a:srgbClr val="1F2937"/>
                </a:solidFill>
                <a:latin typeface="Calibri"/>
              </a:rPr>
              <a:t> tính đóng góp của 21 đặc trưng cho từng tin trong 105 tin kiểm thử (20% tập dữ liệu)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</a:t>
            </a:r>
            <a:r>
              <a:rPr sz="1500" b="1">
                <a:solidFill>
                  <a:srgbClr val="2563EB"/>
                </a:solidFill>
                <a:latin typeface="Calibri"/>
              </a:rPr>
              <a:t>experience_years</a:t>
            </a:r>
            <a:r>
              <a:rPr sz="1500" b="0">
                <a:solidFill>
                  <a:srgbClr val="1F2937"/>
                </a:solidFill>
                <a:latin typeface="Calibri"/>
              </a:rPr>
              <a:t> và nhóm kỹ năng đóng góp lớn nhất — kinh nghiệm là yếu tố quyết định mức lương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Đỏ đẩy lương lên, xanh kéo lương xuống — độ trải rộng của điểm màu phản ánh tác động phi tuyến của Decision Tree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15. Kết quả ML —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KẾT QUẢ</a:t>
            </a:r>
          </a:p>
        </p:txBody>
      </p:sp>
      <p:pic>
        <p:nvPicPr>
          <p:cNvPr id="5" name="Picture 4" descr="resid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394960" cy="18827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117218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Sai số dự đoán (residual) phân bố quanh mức 0</a:t>
            </a:r>
          </a:p>
        </p:txBody>
      </p:sp>
      <p:pic>
        <p:nvPicPr>
          <p:cNvPr id="7" name="Picture 6" descr="model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5394960" cy="26481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3882575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So sánh độ chính xác RMSE, MAE, R² giữa 4 mô hình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16. Phân cụm thị trường (K-Means)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KẾT QUẢ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645920"/>
                <a:gridCol w="2011680"/>
                <a:gridCol w="4663440"/>
              </a:tblGrid>
              <a:tr h="4419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Tỷ lệ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Lương TB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Kinh nghiệm TB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Đặc điểm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15.1M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2.6y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Junior-Mid, Hà Nội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27.1M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2.6y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Mid-Senior, TP.HCM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41.9M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4.8y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Senior, thu nhập cao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20.8M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2.1y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Mid, đa dạng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31.6M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2.7y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Việc làm Remote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035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Khảo sát số cụm k từ 2 đến 10, chọn k = 10 với Silhouette Score 0.38. Năm phân khúc đặc trưng: Junior-Mid Hà Nội 15.1M, Mid-Senior TP.HCM 27.1M, Senior 41.9M, Mid đa dạng 20.8M, Remote 31.6M.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17. K-Means — Chart phân cụm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KẾT QUẢ</a:t>
            </a:r>
          </a:p>
        </p:txBody>
      </p:sp>
      <p:pic>
        <p:nvPicPr>
          <p:cNvPr id="5" name="Picture 4" descr="silhouett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394960" cy="26481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882575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Silhouette Score khi khảo sát số cụm k từ 2 đến 10</a:t>
            </a:r>
          </a:p>
        </p:txBody>
      </p:sp>
      <p:pic>
        <p:nvPicPr>
          <p:cNvPr id="7" name="Picture 6" descr="pca_2d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5394960" cy="35723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4806778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10 cụm thị trường nhìn trên không gian 2 chiều sau PCA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18. SHAP — Giải thích mô hình Linear Regression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KẾT QUẢ</a:t>
            </a:r>
          </a:p>
        </p:txBody>
      </p:sp>
      <p:pic>
        <p:nvPicPr>
          <p:cNvPr id="5" name="Picture 4" descr="shap_linear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396425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1264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SHAP summary plot (nguồn: scripts/generate_shap_plots.py)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1234440"/>
            <a:ext cx="49377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</a:t>
            </a:r>
            <a:r>
              <a:rPr sz="1500" b="1">
                <a:solidFill>
                  <a:srgbClr val="2563EB"/>
                </a:solidFill>
                <a:latin typeface="Calibri"/>
              </a:rPr>
              <a:t>LinearExplainer</a:t>
            </a:r>
            <a:r>
              <a:rPr sz="1500" b="0">
                <a:solidFill>
                  <a:srgbClr val="1F2937"/>
                </a:solidFill>
                <a:latin typeface="Calibri"/>
              </a:rPr>
              <a:t> tính SHAP bằng hệ số nhân giá trị đặc trưng — quan hệ 1:1, dễ đọc trên 105 tin kiểm thử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Các đặc trưng quan trọng nhất </a:t>
            </a:r>
            <a:r>
              <a:rPr sz="1500" b="1">
                <a:solidFill>
                  <a:srgbClr val="2563EB"/>
                </a:solidFill>
                <a:latin typeface="Calibri"/>
              </a:rPr>
              <a:t>khớp với Decision Tree</a:t>
            </a:r>
            <a:r>
              <a:rPr sz="1500" b="0">
                <a:solidFill>
                  <a:srgbClr val="1F2937"/>
                </a:solidFill>
                <a:latin typeface="Calibri"/>
              </a:rPr>
              <a:t> — kết quả ổn định giữa 2 mô hình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Độ lớn SHAP là đóng góp tuyệt đối vào lương (triệu VND) — so sánh trực tiếp được độ quan trọng giữa các đặc trưng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19. Hệ thống gợi ý việc làm (Content-based)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KẾT QUẢ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3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645920"/>
                <a:gridCol w="3749039"/>
                <a:gridCol w="27432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Việc làm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Similarity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Kỹ năng khớp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Kỹ năng thiếu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Data Scientist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Python, SQL, Machine Learning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ML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Python, Machine Learning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Docker, Spark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Data Engineer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Python, SQL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Spark, Airflow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035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Kỹ năng được mã hóa thành ma trận 1500 việc × 45 kỹ năng. Hệ thống lọc theo thành phố và kinh nghiệm ±0.5 năm trước khi tính cosine để giảm nhiễu. Demo hồ sơ [Python, SQL, Machine Learning] → Top-3: Data Scientist 1.0, ML Engineer 0.67, Data Engineer 0.67.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20. Gợi ý — Chart similarity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KẾT LUẬN</a:t>
            </a:r>
          </a:p>
        </p:txBody>
      </p:sp>
      <p:pic>
        <p:nvPicPr>
          <p:cNvPr id="5" name="Picture 4" descr="similarity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394960" cy="18493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083812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Điểm tương đồng (similarity) giữa hồ sơ demo và các việc trong kho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21. Kết luận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KẾT LUẬN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Pipeline khoa học dữ liệu end-to-end hoàn chỉnh, đáp ứng đủ các tiêu chí của học phần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Hồi quy:</a:t>
            </a:r>
            <a:r>
              <a:rPr sz="1700" b="0">
                <a:solidFill>
                  <a:srgbClr val="1F2937"/>
                </a:solidFill>
                <a:latin typeface="Calibri"/>
              </a:rPr>
              <a:t> RMSE giảm từ 8.97 (Baseline) xuống 4.17 (Linear, R² 0.783) rồi 0.60 (Decision Tree, R² 0.996)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SHAP xác nhận</a:t>
            </a:r>
            <a:r>
              <a:rPr sz="1700" b="0">
                <a:solidFill>
                  <a:srgbClr val="1F2937"/>
                </a:solidFill>
                <a:latin typeface="Calibri"/>
              </a:rPr>
              <a:t> kinh nghiệm và nhóm kỹ năng là nhân tố chính quyết định lương, nhất quán giữa 2 mô hình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K-Means</a:t>
            </a:r>
            <a:r>
              <a:rPr sz="1700" b="0">
                <a:solidFill>
                  <a:srgbClr val="1F2937"/>
                </a:solidFill>
                <a:latin typeface="Calibri"/>
              </a:rPr>
              <a:t> k = 10 (Silhouette 0.38) nhận diện 5 phân khúc thị trường rõ rệt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Content-based</a:t>
            </a:r>
            <a:r>
              <a:rPr sz="1700" b="0">
                <a:solidFill>
                  <a:srgbClr val="1F2937"/>
                </a:solidFill>
                <a:latin typeface="Calibri"/>
              </a:rPr>
              <a:t> gợi ý Top-3 việc phù hợp kèm kỹ năng còn thiếu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Toàn bộ RQ1-RQ5 được trả lời qua EDA (F1-F4), SHAP và hệ gợi ý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989320"/>
            <a:ext cx="2594610" cy="12344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400" b="1">
                <a:solidFill>
                  <a:srgbClr val="2563EB"/>
                </a:solidFill>
                <a:latin typeface="Calibri"/>
              </a:rPr>
              <a:t>🎯  RMSE 0.60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Decision Tree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71850" y="5989320"/>
            <a:ext cx="2594610" cy="12344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400" b="1">
                <a:solidFill>
                  <a:srgbClr val="2563EB"/>
                </a:solidFill>
                <a:latin typeface="Calibri"/>
              </a:rPr>
              <a:t>📈  R² 0.996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Decision Tree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5059" y="5989320"/>
            <a:ext cx="2594610" cy="12344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400" b="1">
                <a:solidFill>
                  <a:srgbClr val="2563EB"/>
                </a:solidFill>
                <a:latin typeface="Calibri"/>
              </a:rPr>
              <a:t>💎  0.38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Silhouette k=10</a:t>
            </a:r>
          </a:p>
        </p:txBody>
      </p:sp>
      <p:sp>
        <p:nvSpPr>
          <p:cNvPr id="9" name="Rectangle 8"/>
          <p:cNvSpPr/>
          <p:nvPr/>
        </p:nvSpPr>
        <p:spPr>
          <a:xfrm>
            <a:off x="9018269" y="5989320"/>
            <a:ext cx="2594610" cy="12344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400" b="1">
                <a:solidFill>
                  <a:srgbClr val="2563EB"/>
                </a:solidFill>
                <a:latin typeface="Calibri"/>
              </a:rPr>
              <a:t>🎖️  Top-3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việc phù hợp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Calibri"/>
              </a:rPr>
              <a:t>22. Hạn chế &amp; Hướng phát triển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4630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84048"/>
            <a:ext cx="2103120" cy="384048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KẾT LUẬN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Hạn chế của dữ liệu và mô hình: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– Kỹ năng chi tiết chỉ xuất hiện trong 6.6% tin — giới hạn từ nguồn dữ liệu, ảnh hưởng đến độ chính xác của đặc trưng kỹ năng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– Dữ liệu thiên lệch địa lý: TP.HCM chiếm ~50% tin trong khi Đà Nẵng chỉ ~4% — chưa đại diện đồng đều cho cả thị trường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– Decision Tree và Random Forest overfit trên tập hiện tại; dùng salary midpoint (điểm giữa khoảng) thay vì lương thực tế do 56% tin ẩn lương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</a:t>
            </a:r>
            <a:r>
              <a:rPr sz="1700" b="1">
                <a:solidFill>
                  <a:srgbClr val="2563EB"/>
                </a:solidFill>
                <a:latin typeface="Calibri"/>
              </a:rPr>
              <a:t>Hướng phát triển trong tương lai: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– Crawler truy cập sâu vào trang chi tiết từng tin, mở rộng số nguồn và cập nhật dữ liệu theo thời gian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– Dùng NLP/BERT trích xuất đặc trưng ngữ nghĩa từ mô tả công việc — tận dụng nguồn thông tin thay cho kỹ năng bị ẩn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– Thử DBSCAN / Hierarchical Clustering và Hybrid Recommendation (collaborative + content-based)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2563EB"/>
                </a:solidFill>
                <a:latin typeface="Calibri"/>
              </a:rPr>
              <a:t>CẢM ƠN THẦY CÔ VÀ CÁC BẠN</a:t>
            </a:r>
          </a:p>
          <a:p>
            <a:pPr algn="ctr"/>
            <a:r>
              <a:rPr sz="4000" b="1">
                <a:solidFill>
                  <a:srgbClr val="2563EB"/>
                </a:solidFill>
                <a:latin typeface="Calibri"/>
              </a:rPr>
              <a:t>ĐÃ LẮNG NGHE!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