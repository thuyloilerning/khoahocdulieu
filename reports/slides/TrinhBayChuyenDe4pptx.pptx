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Inter" panose="020B0604020202020204" charset="0"/>
      <p:regular r:id="rId30"/>
    </p:embeddedFont>
    <p:embeddedFont>
      <p:font typeface="Inter Bold" panose="020B0604020202020204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20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Chuyên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khoa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Learning,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sắp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Việt Nam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1.193 tin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56% tin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RQ1: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RQ2: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RQ3: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RMSE, MAE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RQ4: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Thị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K-Means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Silhouette Score.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RQ5: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Content-based Recommendation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Cosine Similarity.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Slide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RQ.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IT. Giai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Engineering.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ColumnTransformer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K-Means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Cosine Similarity.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Crawler v2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timeout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chặn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crawler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User-Agent,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429.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chặn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captcha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-challenge.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JSON-LD, __NEXT_DATA__, HTML Parsing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JSON.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JSON,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metadata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react, react.js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reactjs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SalaryParser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SkillNormalizer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ExperienceNormalizer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Nguyên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Junior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Mid-level.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numeric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experience_years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categorical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Unknown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One-Hot Encoding.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ordinal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experience_bin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salary_mid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nhiễu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Cross-Validation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1.193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56%,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6,6%,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Science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Programming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JavaScript, React, Kafka, Python, SQL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Hà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TP.HCM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Hybrid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On-site.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30%.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50%.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Science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Programming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DevOps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JavaScript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376 tin,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React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Anh.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30%,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RQ1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RQ2.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8,97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VND. Linear Regression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4,17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0,783,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0,60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0,996. Random Forest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overfit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Linear Regression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crawl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 Tree.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experience_years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hưởng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residual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Baseline, Linear Regression, 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Forest. Linear Regression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overfit.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K-Means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Cluster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Junior–Mid ở Hà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15,1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Cluster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Mid–Senior ở TP.HCM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27,1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Cluster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Senior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41,9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cluster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Silhouette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Silhouette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0,38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PCA 2D minh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Linear Regression, SHAP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 Tree,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Tuy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Content-based Filtering.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MultiLabelBinarizer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Cosine Similarity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Python, SQL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Learning. Công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Scientist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khớp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ML Engineer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Engineer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Docker, Spark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Airflow.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Top-3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similarity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Content-based,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 khoa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end-to-end,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Linear Regression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4,17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0,783. 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0,60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overfit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K-Means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Silhouette Score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0,38.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Content-based Recommendation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Top-3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TP.HCM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Nẵng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 Tree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crawler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NLP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BERT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K-Means,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DBSCAN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Hierarchical Clustering.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Content-based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Collaborative Filtering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Hybrid Recommendation.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8817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PHÂN TÍCH THỊ TRƯỜNG VIỆC LÀM IT &amp; GỢI Ý ỨNG VIÊN BẰNG MACHINE LEARNING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598675" y="2971800"/>
            <a:ext cx="99424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12079" y="3028454"/>
            <a:ext cx="13770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GIỚI THIỆU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351879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3874889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Chuyên đề 4 — Lập trình cho Khoa học Dữ liệu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4512766"/>
            <a:ext cx="10868745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Học viên: </a:t>
            </a:r>
            <a:r>
              <a:rPr lang="en-US" sz="11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Nguyễn Minh Tan</a:t>
            </a: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GVHD: PGS.TS. </a:t>
            </a:r>
            <a:r>
              <a:rPr lang="en-US" sz="11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Nguyễn Duy </a:t>
            </a:r>
            <a:r>
              <a:rPr lang="en-US" sz="1150" b="1" kern="0" spc="-3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Hàm</a:t>
            </a:r>
            <a:endParaRPr lang="en-US" sz="1150" b="1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Tháng 8 năm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144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NỘI DUNG TRÌNH BÀY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67917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8675" y="1964432"/>
            <a:ext cx="99424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2079" y="2021086"/>
            <a:ext cx="13770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GIỚI THIỆU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82" y="24641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Lộ trình trình bày được chia thành 5 phần chính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từ giới thiệu đề tài đến kết luận và hướng phát triển.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1682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PHẦN 1 – GIỚI THIỆU &amp; MỤC TIÊU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65254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3-4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439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PHẦN 2 – PHƯƠNG PHÁP XỬ LÝ DỮ LIỆU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462825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5-9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51196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PHẦN 3 – PHÂN TÍCH KHÁM PHÁ (EDA)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60397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10-12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31682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PHẦN 4 – KẾT QUẢ MÔ HÌNH ML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32776" y="365254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13-20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32776" y="41439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PHẦN 5 – KẾT LUẬN &amp; HƯỚNG PHÁT TRIỂN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32776" y="462825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21-23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666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50" b="1" kern="0" spc="-6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Giới thiệu bài toán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715254" y="1120973"/>
            <a:ext cx="761187" cy="219869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02068" y="1164332"/>
            <a:ext cx="1197143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GIỚI THIỆU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150157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2032794"/>
            <a:ext cx="31346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1475" y="2143224"/>
            <a:ext cx="3134639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Thị trường IT Việt Nam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đang phát triển nhanh, nhu cầu tuyển dụng tập trung tại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Hà Nội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TP.HCM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Đà Nẵng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06839" y="2032794"/>
            <a:ext cx="31346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06839" y="2143224"/>
            <a:ext cx="313463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 tuyển dụng phân tán trên nhiều nền tảng với định dạng tự do, khiến ứng viên khó so sánh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lương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kỹ năng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giữa các nguồn.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3079750"/>
            <a:ext cx="6380003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1475" y="3190180"/>
            <a:ext cx="6380003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Bốn nền tảng lớn (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Itviec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Glints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TopCV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Careerviet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đăng tin theo các dạng khác nhau nên dữ liệu thu về không đồng nhất.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1475" y="3786386"/>
            <a:ext cx="638000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1475" y="3966170"/>
            <a:ext cx="638000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70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Mục tiêu của đề tài</a:t>
            </a:r>
            <a:endParaRPr lang="en-US" sz="17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62152"/>
            <a:ext cx="3134639" cy="8179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1380" y="4525863"/>
            <a:ext cx="273102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Thu thập tự động tin tuyển dụng IT từ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nguồn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bằng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Crawler v2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làm sạch và chuẩn hóa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lương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kỹ năng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kinh nghiệm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về cùng một định dạng.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6839" y="4362152"/>
            <a:ext cx="3134639" cy="8179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46744" y="4525863"/>
            <a:ext cx="273102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Dự báo mức lương thị trường bằng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mô hình ML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rồi gợi ý việc làm phù hợp với hồ sơ (</a:t>
            </a:r>
            <a:r>
              <a:rPr lang="en-US" sz="9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Content-based</a:t>
            </a: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00839" y="1878310"/>
            <a:ext cx="4135632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b="1" kern="0" spc="-1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</a:t>
            </a:r>
            <a:endParaRPr lang="en-US" sz="3750" dirty="0"/>
          </a:p>
        </p:txBody>
      </p:sp>
      <p:sp>
        <p:nvSpPr>
          <p:cNvPr id="19" name="Text 15"/>
          <p:cNvSpPr/>
          <p:nvPr/>
        </p:nvSpPr>
        <p:spPr>
          <a:xfrm>
            <a:off x="7400839" y="2511227"/>
            <a:ext cx="413563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tin tuyển dụng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400839" y="3031133"/>
            <a:ext cx="4135632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b="1" kern="0" spc="-1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3750" dirty="0"/>
          </a:p>
        </p:txBody>
      </p:sp>
      <p:sp>
        <p:nvSpPr>
          <p:cNvPr id="21" name="Text 17"/>
          <p:cNvSpPr/>
          <p:nvPr/>
        </p:nvSpPr>
        <p:spPr>
          <a:xfrm>
            <a:off x="7400839" y="3664049"/>
            <a:ext cx="413563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nguồn dữ liệu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400839" y="4183955"/>
            <a:ext cx="4135632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b="1" kern="0" spc="-1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</a:t>
            </a:r>
            <a:endParaRPr lang="en-US" sz="3750" dirty="0"/>
          </a:p>
        </p:txBody>
      </p:sp>
      <p:sp>
        <p:nvSpPr>
          <p:cNvPr id="23" name="Text 19"/>
          <p:cNvSpPr/>
          <p:nvPr/>
        </p:nvSpPr>
        <p:spPr>
          <a:xfrm>
            <a:off x="7400839" y="4816872"/>
            <a:ext cx="413563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thuộc tính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400839" y="5336778"/>
            <a:ext cx="4135632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b="1" kern="0" spc="-1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56%</a:t>
            </a:r>
            <a:endParaRPr lang="en-US" sz="3750" dirty="0"/>
          </a:p>
        </p:txBody>
      </p:sp>
      <p:sp>
        <p:nvSpPr>
          <p:cNvPr id="25" name="Text 21"/>
          <p:cNvSpPr/>
          <p:nvPr/>
        </p:nvSpPr>
        <p:spPr>
          <a:xfrm>
            <a:off x="7400839" y="5969695"/>
            <a:ext cx="413563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tin ẩn lương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Câu hỏi nghiên cứu RQ1-RQ5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527041" y="1222673"/>
            <a:ext cx="1137614" cy="251420"/>
          </a:xfrm>
          <a:prstGeom prst="roundRect">
            <a:avLst>
              <a:gd name="adj" fmla="val 2210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26257" y="1272282"/>
            <a:ext cx="154876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67808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2063849"/>
            <a:ext cx="6359862" cy="3897312"/>
          </a:xfrm>
          <a:prstGeom prst="roundRect">
            <a:avLst>
              <a:gd name="adj" fmla="val 178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1475" y="2514104"/>
            <a:ext cx="6359862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1475" y="3202880"/>
            <a:ext cx="6359862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1475" y="3891657"/>
            <a:ext cx="6359862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1475" y="4580434"/>
            <a:ext cx="6359862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1475" y="5269210"/>
            <a:ext cx="6359862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95350" y="2063849"/>
            <a:ext cx="10337" cy="38973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218" y="2163366"/>
            <a:ext cx="3703247" cy="254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Câu hỏi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3819" y="2163366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Phương pháp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218" y="2610445"/>
            <a:ext cx="30936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RQ1: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Kỹ năng nào được yêu cầu nhiều nhất?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63819" y="2610445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—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skills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218" y="3299222"/>
            <a:ext cx="30936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RQ2: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Lương biến động theo kinh nghiệm, thành phố?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63819" y="3299222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—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groupby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boxplot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218" y="3987998"/>
            <a:ext cx="30936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RQ3: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 thể dự báo mức lương không, sai số bao nhiêu?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63819" y="3987998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—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218" y="4676775"/>
            <a:ext cx="30936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RQ4: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Thị trường phân khúc thành những nhóm nào?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63819" y="4676775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—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218" y="5365552"/>
            <a:ext cx="30936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RQ5: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Việc nào phù hợp với hồ sơ kỹ năng?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63819" y="5365552"/>
            <a:ext cx="31954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Content-based —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cosine</a:t>
            </a:r>
            <a:endParaRPr lang="en-US" sz="13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1100" y="2063849"/>
            <a:ext cx="4105371" cy="127426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91642" y="2248198"/>
            <a:ext cx="366048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Insight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91642" y="2657673"/>
            <a:ext cx="366048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 câu hỏi được sắp theo 3 lớp: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khám phá dữ liệu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mô hình hoá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gợi ý việc làm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1100" y="3482777"/>
            <a:ext cx="4105371" cy="127426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691642" y="3667125"/>
            <a:ext cx="366048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ML metrics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691642" y="4076601"/>
            <a:ext cx="366048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Nhấn mạnh các chỉ số chính: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Silhouette Score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1100" y="4901704"/>
            <a:ext cx="4105371" cy="127426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691642" y="5086052"/>
            <a:ext cx="366048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Data pipeline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7691642" y="5495528"/>
            <a:ext cx="366048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Từ EDA đến clustering và content-based matching để trả lời toàn bộ RQ1-RQ5.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35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Kiến trúc hệ thống — Pipeline end-to-end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486560" y="1403548"/>
            <a:ext cx="1218574" cy="26918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92821" y="1456630"/>
            <a:ext cx="161563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9038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320032"/>
            <a:ext cx="521828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Thu thập &amp; làm sạch dữ liệu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2769394"/>
            <a:ext cx="5218280" cy="2371527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Crawler v2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xoay vòng 3 User-Agent, giới hạn tốc độ 1–3 giây, chạy 22 từ khóa trên 4 nguồn, thu về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 tin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Trích lọc theo 4 kỹ thuật (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JSON-LD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__NEXT_DATA__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rồi lưu dạng raw CSV + JSON kèm siêu dữ liệu nguồn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SalaryParser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đọc 8 cấu trúc lương (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56%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 ẩn lương),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SkillNormalizer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gộp 188 quy tắc thành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kỹ năng chuẩn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ExperienceNormalizer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gán 5 bậc kinh nghiệm từ entry đến lead;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Deduplicator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loại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bản ghi trùng qua 4 pha kiểm tra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18290" y="2320032"/>
            <a:ext cx="521828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Feature engineering &amp; mô hình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18290" y="2769394"/>
            <a:ext cx="5218280" cy="2371527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ColumnTransformer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xử lý 3 nhóm đặc trưng —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numeric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(trung vị + chuẩn hóa),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(OneHot),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ordinal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Loại bỏ cột thô, mục tiêu là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salary_mid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tính bằng triệu VND mỗi tháng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Hồi quy giảm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từ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8.97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xuống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4.17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(Linear) rồi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0.60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(Decision Tree)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với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 = 10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đạt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Silhouette 0.38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cosine similarity gợi ý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Top-3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việc phù hợp cho hồ sơ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543014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1475" y="5680273"/>
            <a:ext cx="108687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được tối ưu từ thu thập → chuẩn hóa → mô hình hóa → gợi ý việc làm, giúp dữ liệu sạch hơn và dự báo chính xác hơn.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58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 Crawler v2 — Thu thập dữ liệu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445882" y="1602085"/>
            <a:ext cx="1299832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59286" y="1658739"/>
            <a:ext cx="16826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14907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6233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Thu thập &amp; kiểm soát truy cập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107630"/>
            <a:ext cx="5203794" cy="293270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Crawler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chạy qua từng nguồn và từ khóa (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 từ khóa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dừng khi đủ số tin tối thiểu, lịch sử ghi vào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crawl_history.json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HttpClient (httpx)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bật xác thực SSL, tự động theo redirect và timeout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 giây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để hạn chế lỗi kết nối bị chặn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Xoay vòng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User-Agent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giới hạn tốc độ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1-3 giây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thử lại khi máy chủ trả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 429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Nhận diện trang bị chặn qua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BLOCKED_MARKERS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captcha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cf-challenge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6233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Trích xuất &amp; lưu trữ dữ liệu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107630"/>
            <a:ext cx="5203794" cy="26302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kỹ thuật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trích xuất dữ liệu: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JSON-LD Parsing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__NEXT_DATA__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Parsing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bằng BeautifulSoup,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JSON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JSON-LD Parsing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đọc dữ liệu nhúng trong thẻ script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application/ld+json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__NEXT_DATA__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lấy JSON state của trang Next.js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Lưu dữ liệu thô dạng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+ JSON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theo từng nguồn vào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kèm log siêu metadata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07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 Làm sạch &amp; Chuẩn hóa dữ liệu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486560" y="1311275"/>
            <a:ext cx="1218574" cy="26918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92821" y="1364357"/>
            <a:ext cx="161563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81153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227759"/>
            <a:ext cx="5218280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Vấn đề dữ liệu gốc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661475" y="2732385"/>
            <a:ext cx="5218280" cy="1822252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Lương: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56% tin ẩn mức lương; còn lại viết dưới 8 dạng khác nhau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Kỹ năng: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Một kỹ năng có nhiều tên gọi gây nhiễu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Kinh nghiệm: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Mô tả tự do không có cấu trúc đồng nhất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Trùng lặp: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Cùng một tin được đăng lại trên nhiều nguồn hoặc nhiều ngày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18290" y="2227759"/>
            <a:ext cx="5218280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Cách xử lý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318290" y="2732385"/>
            <a:ext cx="5218280" cy="2371527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SalaryParser: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 regex nhận diện 8 cấu trúc; USD→VND ×25.000; lương năm ×12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SkillNormalizer: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188 quy tắc đồng nghĩa → 45 kỹ năng chuẩn; fuzzy matching &gt;0.8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ExperienceNormalizer: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 regex TV/EN → 5 bậc (entry → lead); gán -1 cho giá trị thiếu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Deduplicator: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pha (job_id, title+company, fuzzy title, fuzzy desc) → loại 70 bản ghi trùng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539313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1475" y="5643265"/>
            <a:ext cx="10868745" cy="678656"/>
          </a:xfrm>
          <a:prstGeom prst="roundRect">
            <a:avLst>
              <a:gd name="adj" fmla="val 1096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5882680"/>
            <a:ext cx="221451" cy="17720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7326" y="5853609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Tập trung chuẩn hóa các trường nhiễu cao để dữ liệu sạch hơn, giảm sai lệch cho các bước phân tích tiếp theo.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kern="0" spc="-7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 Làm sạch — Chart dữ liệu thực tế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588059" y="1158974"/>
            <a:ext cx="1015578" cy="224334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76659" y="1203226"/>
            <a:ext cx="1447962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154999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851025"/>
            <a:ext cx="5254295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Tỷ lệ giá trị thiếu theo cột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64073"/>
            <a:ext cx="4651556" cy="23082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4702076"/>
            <a:ext cx="5254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salary_max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min_experience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thiếu nhiều nhất do tin ẩn lương và mô tả tự do.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2275" y="1851025"/>
            <a:ext cx="5254295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Phân bố số năm kinh nghiệm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75" y="2264073"/>
            <a:ext cx="4651556" cy="23046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82275" y="4698504"/>
            <a:ext cx="586388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Đỉnh ở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1–3 năm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phần lớn tin tuyển dụng thuộc cấp độ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Junior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Mid-level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1475" y="539323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61475" y="5578971"/>
            <a:ext cx="10868745" cy="719931"/>
          </a:xfrm>
          <a:prstGeom prst="roundRect">
            <a:avLst>
              <a:gd name="adj" fmla="val 861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09" y="5741690"/>
            <a:ext cx="184542" cy="1476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1285" y="5731173"/>
            <a:ext cx="10241302" cy="427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150" b="1" kern="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Sự thiếu hụt dữ liệu ở lương và kinh nghiệm là động lực chính để xây dựng </a:t>
            </a:r>
            <a:r>
              <a:rPr lang="en-US" sz="1150" b="1" kern="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SalaryParser</a:t>
            </a: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150" b="1" kern="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ExperienceNormalizer</a:t>
            </a: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nhằm tạo ra tập dữ liệu chuẩn cho ML.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438"/>
            <a:ext cx="10868745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r>
              <a:rPr lang="en-US" sz="2650" b="1" kern="0" spc="-8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 </a:t>
            </a: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5506602" y="1318121"/>
            <a:ext cx="1178392" cy="260152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09291" y="1369417"/>
            <a:ext cx="1582599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PHƯƠNG PHÁP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79566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187277"/>
            <a:ext cx="5225423" cy="642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2000" b="1" kern="0" spc="-6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3 nhóm đặc trưng trong ColumnTransformer [3]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1475" y="2984798"/>
            <a:ext cx="5225423" cy="196264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Numeric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experience_years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): điền giá trị thiếu bằng trung vị rồi chuẩn hóa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job_type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remote_option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education_level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company_size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): điền "Unknown" khi thiếu, OneHotEncoder bỏ qua giá trị mới lạ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Ordinal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experience_bin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từ entry đến lead): giữ thứ tự qua OrdinalEncoder, giá trị thiếu gán 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5164832"/>
            <a:ext cx="522542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1475" y="5401270"/>
            <a:ext cx="522542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Biến mục tiêu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1475" y="5877620"/>
            <a:ext cx="58350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salary_mid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(triệu VND/tháng)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1147" y="2171799"/>
            <a:ext cx="5225423" cy="1111945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Loại cột thô (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job_id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source_url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...); ColumnTransformer dùng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remainder="drop"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Chia dữ liệu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80/20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đánh giá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5-fold cross-validation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để ước lượng độ ổn định của mô hình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1147" y="3458369"/>
            <a:ext cx="5225423" cy="893762"/>
          </a:xfrm>
          <a:prstGeom prst="roundRect">
            <a:avLst>
              <a:gd name="adj" fmla="val 805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394" y="3696891"/>
            <a:ext cx="214109" cy="1712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67750" y="3640832"/>
            <a:ext cx="4497573" cy="528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Tập trung vào chuẩn hóa đầu vào để mô hình học ổn định hơn và giảm nhiễu từ dữ liệu thiếu.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10. Dữ liệu sau xử lý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48184" y="1268016"/>
            <a:ext cx="895328" cy="251420"/>
          </a:xfrm>
          <a:prstGeom prst="roundRect">
            <a:avLst>
              <a:gd name="adj" fmla="val 2210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47400" y="1317625"/>
            <a:ext cx="130648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PHÂN TÍCH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72343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2109192"/>
            <a:ext cx="5683505" cy="3339505"/>
          </a:xfrm>
          <a:prstGeom prst="roundRect">
            <a:avLst>
              <a:gd name="adj" fmla="val 208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1475" y="2553097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1475" y="2993827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1475" y="3434556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1475" y="4123333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1475" y="4564062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1475" y="5004792"/>
            <a:ext cx="568350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56943" y="2109192"/>
            <a:ext cx="10337" cy="33395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218" y="2208709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Thuộc tính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25412" y="2208709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Giá trị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18" y="2649438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Tổng bản ghi việc làm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5412" y="2649438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218" y="3090168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thuộc tính (cột)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25412" y="3090168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218" y="3530898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Nguồn dữ liệu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25412" y="3530898"/>
            <a:ext cx="204792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Itviec, Glints, TopCV, Careerviet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218" y="4219674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Tỷ lệ ẩn lương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25412" y="4219674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56%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218" y="4660404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Độ phủ kỹ năng chi tiết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25412" y="4660404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6.6%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3218" y="5101134"/>
            <a:ext cx="35648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Bản ghi trùng đã loại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25412" y="5101134"/>
            <a:ext cx="26575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54743" y="2191841"/>
            <a:ext cx="230042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b="1" kern="0" spc="-1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</a:t>
            </a:r>
            <a:endParaRPr lang="en-US" sz="4250" dirty="0"/>
          </a:p>
        </p:txBody>
      </p:sp>
      <p:sp>
        <p:nvSpPr>
          <p:cNvPr id="29" name="Text 27"/>
          <p:cNvSpPr/>
          <p:nvPr/>
        </p:nvSpPr>
        <p:spPr>
          <a:xfrm>
            <a:off x="6754743" y="2928739"/>
            <a:ext cx="23004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tin tuyển dụng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6042" y="2191841"/>
            <a:ext cx="230042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b="1" kern="0" spc="-1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4250" dirty="0"/>
          </a:p>
        </p:txBody>
      </p:sp>
      <p:sp>
        <p:nvSpPr>
          <p:cNvPr id="31" name="Text 29"/>
          <p:cNvSpPr/>
          <p:nvPr/>
        </p:nvSpPr>
        <p:spPr>
          <a:xfrm>
            <a:off x="9236042" y="2928739"/>
            <a:ext cx="23004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nguồn dữ liệu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54743" y="3559274"/>
            <a:ext cx="230042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b="1" kern="0" spc="-1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56%</a:t>
            </a:r>
            <a:endParaRPr lang="en-US" sz="4250" dirty="0"/>
          </a:p>
        </p:txBody>
      </p:sp>
      <p:sp>
        <p:nvSpPr>
          <p:cNvPr id="33" name="Text 31"/>
          <p:cNvSpPr/>
          <p:nvPr/>
        </p:nvSpPr>
        <p:spPr>
          <a:xfrm>
            <a:off x="6754743" y="4296172"/>
            <a:ext cx="23004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tin ẩn lương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36042" y="3559274"/>
            <a:ext cx="230042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b="1" kern="0" spc="-1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6.6%</a:t>
            </a:r>
            <a:endParaRPr lang="en-US" sz="4250" dirty="0"/>
          </a:p>
        </p:txBody>
      </p:sp>
      <p:sp>
        <p:nvSpPr>
          <p:cNvPr id="35" name="Text 33"/>
          <p:cNvSpPr/>
          <p:nvPr/>
        </p:nvSpPr>
        <p:spPr>
          <a:xfrm>
            <a:off x="9236042" y="4296172"/>
            <a:ext cx="23004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độ phủ kỹ năng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1475" y="58154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1475" y="6038453"/>
            <a:ext cx="11478330" cy="254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 tuyển dụng ·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thuộc tính · </a:t>
            </a: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nguồn tuyển dụng chính tại Việt Nam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693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 Phân tích khám phá dữ liệu (EDA)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08200" y="1480542"/>
            <a:ext cx="975197" cy="273645"/>
          </a:xfrm>
          <a:prstGeom prst="roundRect">
            <a:avLst>
              <a:gd name="adj" fmla="val 2212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16246" y="1534517"/>
            <a:ext cx="1368688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99231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427486"/>
            <a:ext cx="5214609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6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2100" b="1" kern="0" spc="-6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F1 — Nhóm kỹ năng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2943324"/>
            <a:ext cx="5214609" cy="1527473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Science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Lập trình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xuất hiện nhiều nhất trong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1.193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kỹ năng: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JavaScript, React, Kafka, Python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Nhóm công cụ nổi bật: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SQL, Docker, Spring Boot, TensorFlow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1475" y="4708922"/>
            <a:ext cx="5214609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1475" y="4972447"/>
            <a:ext cx="5214609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6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2100" b="1" kern="0" spc="-6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F2 — Lương tăng theo bậc kinh nghiệm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1475" y="5488285"/>
            <a:ext cx="5214609" cy="622995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 ~10M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Mid ~17M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Senior ~28M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 ~35M+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TP.HCM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Hà Nội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 lương trung bình cao hơn rõ rệt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961" y="2427486"/>
            <a:ext cx="5214609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6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2100" b="1" kern="0" spc="-6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F3 — Yêu cầu tiếng Anh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21961" y="2943324"/>
            <a:ext cx="5824193" cy="281484"/>
          </a:xfrm>
          <a:prstGeom prst="rect">
            <a:avLst/>
          </a:prstGeom>
          <a:noFill/>
          <a:ln/>
        </p:spPr>
        <p:txBody>
          <a:bodyPr wrap="none" lIns="0" tIns="72063" rIns="0" bIns="0" rtlCol="0" anchor="t"/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 yêu cầu tiếng Anh có lương trung bình cao hơn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~30%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1961" y="3462933"/>
            <a:ext cx="5214609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21961" y="3726458"/>
            <a:ext cx="5214609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6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2100" b="1" kern="0" spc="-6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F4 — Vị trí cấp cao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1961" y="4242296"/>
            <a:ext cx="5824193" cy="281484"/>
          </a:xfrm>
          <a:prstGeom prst="rect">
            <a:avLst/>
          </a:prstGeom>
          <a:noFill/>
          <a:ln/>
        </p:spPr>
        <p:txBody>
          <a:bodyPr wrap="none" lIns="0" tIns="72063" rIns="0" bIns="0" rtlCol="0" anchor="t"/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Senior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Manager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 tỷ lệ ẩn lương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&gt;50%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435"/>
            <a:ext cx="1086874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kern="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12. EDA — Chart chi tiết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5806037" y="1080591"/>
            <a:ext cx="579522" cy="192980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82235" y="1118691"/>
            <a:ext cx="1036711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61475" y="140126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633339"/>
            <a:ext cx="527949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Tỷ lệ tin tuyển dụng theo từng nhóm kỹ năng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67409"/>
            <a:ext cx="5279496" cy="5279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2591296"/>
            <a:ext cx="588908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Phân bổ tin tuyển dụng cho thấy sự tập trung rõ ở các nhóm kỹ năng cốt lõi.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61475" y="2888853"/>
            <a:ext cx="5279496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1475" y="3035598"/>
            <a:ext cx="527949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Lương trung bình theo yêu cầu tiếng Anh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369667"/>
            <a:ext cx="3936902" cy="23834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1475" y="5849045"/>
            <a:ext cx="5279496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 có yêu cầu tiếng Anh thường đi kèm mức lương cao hơn, phản ánh tính cạnh tranh của vị trí.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57074" y="1633339"/>
            <a:ext cx="527949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20 kỹ năng được nhà tuyển dụng yêu cầu nhiều nhất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074" y="1967409"/>
            <a:ext cx="3936902" cy="2068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7074" y="4131965"/>
            <a:ext cx="588908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JavaScript, React, Python, SQL và Docker là các kỹ năng xuất hiện dày đặc nhất.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57074" y="4429522"/>
            <a:ext cx="5279496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257074" y="4576266"/>
            <a:ext cx="5279496" cy="569317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Nhóm kỹ năng có tác động mạnh đến nhu cầu tuyển dụng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Yêu cầu tiếng Anh liên quan đến mức lương cao hơn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Các kỹ năng phổ biến tập trung vào lập trình, dữ liệu và hệ thống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63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13. Kết quả mô hình dự báo lương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691740" y="1354832"/>
            <a:ext cx="808216" cy="26918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98000" y="1407914"/>
            <a:ext cx="120527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85509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271316"/>
            <a:ext cx="4088107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ML &amp; INSIGHT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661475" y="2775942"/>
            <a:ext cx="4088107" cy="2704306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Linear Regression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giảm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 53.5%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với Baseline trung bình.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giảm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 93.3%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với Baseline trung bình.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sai số lớn nhất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đều dưới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 triệu VND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phân bố quanh mức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std ≈ 0.6M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dự đoán không thiên lệch.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 dấu hiệu </a:t>
            </a: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trên tập dữ liệu hiện tại.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88118" y="2271316"/>
            <a:ext cx="6348353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DỮ LIỆU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188118" y="2796679"/>
            <a:ext cx="6348353" cy="3294856"/>
          </a:xfrm>
          <a:prstGeom prst="roundRect">
            <a:avLst>
              <a:gd name="adj" fmla="val 225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88118" y="3567410"/>
            <a:ext cx="6348353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88118" y="4334966"/>
            <a:ext cx="6348353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88118" y="5102523"/>
            <a:ext cx="6348353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88118" y="5595441"/>
            <a:ext cx="6348353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68653" y="2796679"/>
            <a:ext cx="11075" cy="32948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89142" y="2796679"/>
            <a:ext cx="11075" cy="32948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09632" y="2796679"/>
            <a:ext cx="11075" cy="32948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71966" y="2908995"/>
            <a:ext cx="20258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Mô hình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49028" y="2908995"/>
            <a:ext cx="115973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(Triệu VND)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69517" y="2908995"/>
            <a:ext cx="115973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(Triệu VND)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90007" y="2908995"/>
            <a:ext cx="17724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71966" y="3676551"/>
            <a:ext cx="141631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(Dummy Mean)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49028" y="3676551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8.97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69517" y="3676551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7.36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190007" y="3676551"/>
            <a:ext cx="17724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-0.010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71966" y="4444107"/>
            <a:ext cx="141631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49028" y="4444107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4.17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69517" y="4444107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2.94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190007" y="4444107"/>
            <a:ext cx="17724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371966" y="5211663"/>
            <a:ext cx="20258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49028" y="5211663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0.60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69517" y="5211663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0.18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190007" y="5211663"/>
            <a:ext cx="17724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0.996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71966" y="5704582"/>
            <a:ext cx="202589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49028" y="5704582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~0.00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69517" y="5704582"/>
            <a:ext cx="176932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~0.00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190007" y="5704582"/>
            <a:ext cx="17724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~1.000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34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14. SHAP — Giải thích mô hình Decision Tree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45813" y="1161852"/>
            <a:ext cx="700070" cy="233263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37885" y="1207889"/>
            <a:ext cx="1125509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5737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1648"/>
            <a:ext cx="3800975" cy="42776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89518" y="1896070"/>
            <a:ext cx="5247052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TreeExplainer tính đóng góp của 21 đặc trưng cho từng tin trong 105 tin kiểm thử (20% tập dữ liệu)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89518" y="2809776"/>
            <a:ext cx="5247052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experience_years và nhóm kỹ năng đóng góp lớn nhất — kinh nghiệm là yếu tố quyết định mức lương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89518" y="3798292"/>
            <a:ext cx="5247052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Đỏ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đẩy lương lên, </a:t>
            </a: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xanh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kéo lương xuống — độ trải rộng của điểm màu phản ánh tác động phi tuyến của Decision Tree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9518" y="4428530"/>
            <a:ext cx="5247052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89518" y="4626173"/>
            <a:ext cx="585663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SHAP summary plot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(nguồn: scripts/generate_shap_plots.py)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b="1" kern="0" spc="-7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 Kết quả ML — Chart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725374" y="1250255"/>
            <a:ext cx="740848" cy="246856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22804" y="1298972"/>
            <a:ext cx="115557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69465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8215"/>
            <a:ext cx="5035523" cy="175736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332" y="2068215"/>
            <a:ext cx="5035523" cy="24717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1475" y="489446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1475" y="5236666"/>
            <a:ext cx="584582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Dữ liệu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61475" y="5603875"/>
            <a:ext cx="5845823" cy="241598"/>
          </a:xfrm>
          <a:prstGeom prst="rect">
            <a:avLst/>
          </a:prstGeom>
          <a:noFill/>
          <a:ln/>
        </p:spPr>
        <p:txBody>
          <a:bodyPr wrap="none" lIns="0" tIns="64975" rIns="0" bIns="0" rtlCol="0" anchor="t"/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số dự đoán (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phân bố quanh mức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300332" y="5236666"/>
            <a:ext cx="584582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300332" y="5603875"/>
            <a:ext cx="5845823" cy="241598"/>
          </a:xfrm>
          <a:prstGeom prst="rect">
            <a:avLst/>
          </a:prstGeom>
          <a:noFill/>
          <a:ln/>
        </p:spPr>
        <p:txBody>
          <a:bodyPr wrap="none" lIns="0" tIns="64975" rIns="0" bIns="0" rtlCol="0" anchor="t"/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sánh độ chính xác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giữa 4 mô hình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61475" y="6051252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Insight: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ưu tiên mô hình có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thấp và </a:t>
            </a:r>
            <a:r>
              <a:rPr lang="en-US" sz="125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</a:t>
            </a: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cao nhất để đảm bảo dự đoán ổn định.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521"/>
            <a:ext cx="10868745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kern="0" spc="-6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16. Phân cụm thị trường (K-Means)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785995" y="1116409"/>
            <a:ext cx="619705" cy="206276"/>
          </a:xfrm>
          <a:prstGeom prst="roundRect">
            <a:avLst>
              <a:gd name="adj" fmla="val 2213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67452" y="1157089"/>
            <a:ext cx="1066376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1475" y="146645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717080"/>
            <a:ext cx="4372659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Khảo sát số cụm k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từ 2 đến 10, chọn </a:t>
            </a: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 = 10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với </a:t>
            </a: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Silhouette Score 0.38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1475" y="2234307"/>
            <a:ext cx="4372659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7125"/>
            <a:ext cx="2137515" cy="10251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2550" y="2552005"/>
            <a:ext cx="1751564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Junior-Mid Hà Nội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2550" y="2868315"/>
            <a:ext cx="17515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15.1M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619" y="2397125"/>
            <a:ext cx="2137515" cy="1025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27694" y="2552005"/>
            <a:ext cx="1751564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Mid-Senior TP.HCM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27694" y="3080643"/>
            <a:ext cx="17515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27.1M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19884"/>
            <a:ext cx="2137515" cy="812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2550" y="3674765"/>
            <a:ext cx="1751564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Senior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92550" y="3991074"/>
            <a:ext cx="17515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41.9M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619" y="3519884"/>
            <a:ext cx="2137515" cy="812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127694" y="3674765"/>
            <a:ext cx="1751564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Mid đa dạng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127694" y="3991074"/>
            <a:ext cx="17515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20.8M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30316"/>
            <a:ext cx="2137515" cy="812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2550" y="4585196"/>
            <a:ext cx="1751564" cy="21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Remote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92550" y="4901505"/>
            <a:ext cx="17515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31.6M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1475" y="5386884"/>
            <a:ext cx="4372659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661475" y="5549702"/>
            <a:ext cx="4372659" cy="616942"/>
          </a:xfrm>
          <a:prstGeom prst="roundRect">
            <a:avLst>
              <a:gd name="adj" fmla="val 924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02" y="5702102"/>
            <a:ext cx="169759" cy="1358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02888" y="5671443"/>
            <a:ext cx="3795419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05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105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các cụm lương cao tập trung ở nhóm Senior và Remote, trong khi Junior-Mid chiếm tỷ trọng lớn nhất.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5371866" y="1739106"/>
            <a:ext cx="6164604" cy="2130227"/>
          </a:xfrm>
          <a:prstGeom prst="roundRect">
            <a:avLst>
              <a:gd name="adj" fmla="val 267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5371866" y="2251869"/>
            <a:ext cx="6164604" cy="8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5371866" y="2574727"/>
            <a:ext cx="6164604" cy="8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5371866" y="2897584"/>
            <a:ext cx="6164604" cy="8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5371866" y="3220442"/>
            <a:ext cx="6164604" cy="8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5371866" y="3543300"/>
            <a:ext cx="6164604" cy="8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239810" y="1739106"/>
            <a:ext cx="8491" cy="21302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7101008" y="1739106"/>
            <a:ext cx="8491" cy="21302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208261" y="1739106"/>
            <a:ext cx="8491" cy="21302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9315515" y="1739106"/>
            <a:ext cx="8491" cy="21302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5378613" y="1745456"/>
            <a:ext cx="861197" cy="506413"/>
          </a:xfrm>
          <a:custGeom>
            <a:avLst/>
            <a:gdLst/>
            <a:ahLst/>
            <a:cxnLst/>
            <a:rect l="l" t="t" r="r" b="b"/>
            <a:pathLst>
              <a:path w="861197" h="506413">
                <a:moveTo>
                  <a:pt x="47550" y="0"/>
                </a:moveTo>
                <a:lnTo>
                  <a:pt x="861197" y="0"/>
                </a:lnTo>
                <a:lnTo>
                  <a:pt x="861197" y="506413"/>
                </a:lnTo>
                <a:lnTo>
                  <a:pt x="0" y="506413"/>
                </a:lnTo>
                <a:lnTo>
                  <a:pt x="0" y="47551"/>
                </a:lnTo>
                <a:arcTo wR="47550" hR="47551" stAng="10800000" swAng="5400000"/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5514440" y="1810345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239810" y="1745456"/>
            <a:ext cx="861197" cy="50641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6378812" y="1810345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Tỷ lệ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7101008" y="1745456"/>
            <a:ext cx="1107254" cy="50641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7240010" y="1810345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Lương TB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208261" y="1745456"/>
            <a:ext cx="1107254" cy="50641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8347263" y="1810345"/>
            <a:ext cx="829250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Kinh nghiệm TB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9315515" y="1745456"/>
            <a:ext cx="2214606" cy="506413"/>
          </a:xfrm>
          <a:custGeom>
            <a:avLst/>
            <a:gdLst/>
            <a:ahLst/>
            <a:cxnLst/>
            <a:rect l="l" t="t" r="r" b="b"/>
            <a:pathLst>
              <a:path w="2214606" h="506413">
                <a:moveTo>
                  <a:pt x="0" y="0"/>
                </a:moveTo>
                <a:lnTo>
                  <a:pt x="2167056" y="0"/>
                </a:lnTo>
                <a:arcTo wR="47550" hR="47551" stAng="16200000" swAng="5400000"/>
                <a:lnTo>
                  <a:pt x="2214606" y="506413"/>
                </a:lnTo>
                <a:lnTo>
                  <a:pt x="0" y="5064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9454517" y="1810345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Đặc điểm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5514440" y="2319933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6378812" y="2319933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21%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7240010" y="2319933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15.1M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8347263" y="2319933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2.6y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9454517" y="2319933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Junior-Mid, Hà Nội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5514440" y="2642791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6378812" y="2642791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14%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7240010" y="2642791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27.1M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8347263" y="2642791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2.6y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9454517" y="2642791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Mid-Senior, TP.HCM</a:t>
            </a:r>
            <a:endParaRPr lang="en-US" sz="1050" dirty="0"/>
          </a:p>
        </p:txBody>
      </p:sp>
      <p:sp>
        <p:nvSpPr>
          <p:cNvPr id="57" name="Text 49"/>
          <p:cNvSpPr/>
          <p:nvPr/>
        </p:nvSpPr>
        <p:spPr>
          <a:xfrm>
            <a:off x="5514440" y="2965648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0"/>
          <p:cNvSpPr/>
          <p:nvPr/>
        </p:nvSpPr>
        <p:spPr>
          <a:xfrm>
            <a:off x="6378812" y="2965648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050" dirty="0"/>
          </a:p>
        </p:txBody>
      </p:sp>
      <p:sp>
        <p:nvSpPr>
          <p:cNvPr id="59" name="Text 51"/>
          <p:cNvSpPr/>
          <p:nvPr/>
        </p:nvSpPr>
        <p:spPr>
          <a:xfrm>
            <a:off x="7240010" y="2965648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41.9M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8347263" y="2965648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4.8y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9454517" y="2965648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Senior, thu nhập cao</a:t>
            </a:r>
            <a:endParaRPr lang="en-US" sz="1050" dirty="0"/>
          </a:p>
        </p:txBody>
      </p:sp>
      <p:sp>
        <p:nvSpPr>
          <p:cNvPr id="62" name="Text 54"/>
          <p:cNvSpPr/>
          <p:nvPr/>
        </p:nvSpPr>
        <p:spPr>
          <a:xfrm>
            <a:off x="5514440" y="3288506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50" dirty="0"/>
          </a:p>
        </p:txBody>
      </p:sp>
      <p:sp>
        <p:nvSpPr>
          <p:cNvPr id="63" name="Text 55"/>
          <p:cNvSpPr/>
          <p:nvPr/>
        </p:nvSpPr>
        <p:spPr>
          <a:xfrm>
            <a:off x="6378812" y="3288506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21%</a:t>
            </a:r>
            <a:endParaRPr lang="en-US" sz="1050" dirty="0"/>
          </a:p>
        </p:txBody>
      </p:sp>
      <p:sp>
        <p:nvSpPr>
          <p:cNvPr id="64" name="Text 56"/>
          <p:cNvSpPr/>
          <p:nvPr/>
        </p:nvSpPr>
        <p:spPr>
          <a:xfrm>
            <a:off x="7240010" y="3288506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20.8M</a:t>
            </a:r>
            <a:endParaRPr lang="en-US" sz="1050" dirty="0"/>
          </a:p>
        </p:txBody>
      </p:sp>
      <p:sp>
        <p:nvSpPr>
          <p:cNvPr id="65" name="Text 57"/>
          <p:cNvSpPr/>
          <p:nvPr/>
        </p:nvSpPr>
        <p:spPr>
          <a:xfrm>
            <a:off x="8347263" y="3288506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2.1y</a:t>
            </a:r>
            <a:endParaRPr lang="en-US" sz="1050" dirty="0"/>
          </a:p>
        </p:txBody>
      </p:sp>
      <p:sp>
        <p:nvSpPr>
          <p:cNvPr id="66" name="Text 58"/>
          <p:cNvSpPr/>
          <p:nvPr/>
        </p:nvSpPr>
        <p:spPr>
          <a:xfrm>
            <a:off x="9454517" y="3288506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Mid, đa dạng</a:t>
            </a:r>
            <a:endParaRPr lang="en-US" sz="1050" dirty="0"/>
          </a:p>
        </p:txBody>
      </p:sp>
      <p:sp>
        <p:nvSpPr>
          <p:cNvPr id="67" name="Text 59"/>
          <p:cNvSpPr/>
          <p:nvPr/>
        </p:nvSpPr>
        <p:spPr>
          <a:xfrm>
            <a:off x="5514440" y="3611364"/>
            <a:ext cx="1195953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50" dirty="0"/>
          </a:p>
        </p:txBody>
      </p:sp>
      <p:sp>
        <p:nvSpPr>
          <p:cNvPr id="68" name="Text 60"/>
          <p:cNvSpPr/>
          <p:nvPr/>
        </p:nvSpPr>
        <p:spPr>
          <a:xfrm>
            <a:off x="6378812" y="3611364"/>
            <a:ext cx="119277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1050" dirty="0"/>
          </a:p>
        </p:txBody>
      </p:sp>
      <p:sp>
        <p:nvSpPr>
          <p:cNvPr id="69" name="Text 61"/>
          <p:cNvSpPr/>
          <p:nvPr/>
        </p:nvSpPr>
        <p:spPr>
          <a:xfrm>
            <a:off x="7240010" y="3611364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31.6M</a:t>
            </a:r>
            <a:endParaRPr lang="en-US" sz="1050" dirty="0"/>
          </a:p>
        </p:txBody>
      </p:sp>
      <p:sp>
        <p:nvSpPr>
          <p:cNvPr id="70" name="Text 62"/>
          <p:cNvSpPr/>
          <p:nvPr/>
        </p:nvSpPr>
        <p:spPr>
          <a:xfrm>
            <a:off x="8347263" y="3611364"/>
            <a:ext cx="143883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2.7y</a:t>
            </a:r>
            <a:endParaRPr lang="en-US" sz="1050" dirty="0"/>
          </a:p>
        </p:txBody>
      </p:sp>
      <p:sp>
        <p:nvSpPr>
          <p:cNvPr id="71" name="Text 63"/>
          <p:cNvSpPr/>
          <p:nvPr/>
        </p:nvSpPr>
        <p:spPr>
          <a:xfrm>
            <a:off x="9454517" y="3611364"/>
            <a:ext cx="254936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Việc làm Remote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753"/>
            <a:ext cx="10868745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17. K-Means — Chart phân cụm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752361" y="1181298"/>
            <a:ext cx="686973" cy="228898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42648" y="1226443"/>
            <a:ext cx="1115985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158273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9266"/>
            <a:ext cx="4669316" cy="229195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496" y="1909266"/>
            <a:ext cx="4669316" cy="30918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36496" y="5136059"/>
            <a:ext cx="570007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Silhouette Score khi khảo sát số cụm k từ 2 đến 10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836496" y="5419328"/>
            <a:ext cx="570007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10 cụm thị trường nhìn trên không gian 2 chiều sau PCA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836496" y="5702598"/>
            <a:ext cx="5700074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Insight: mô hình cho thấy cấu trúc phân cụm rõ ràng hơn khi tăng số cụm lên 10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51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18. SHAP — Giải thích mô hình Linear Regression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45813" y="1165027"/>
            <a:ext cx="700070" cy="233263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37885" y="1211064"/>
            <a:ext cx="1125509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57688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89924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LinearExplainer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263874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LinearExplainer tính SHAP bằng hệ số nhân giá trị đặc trưng — quan hệ 1:1, dễ đọc trên </a:t>
            </a: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105 tin kiểm thử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833886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Độ lớn SHAP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3198515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Độ lớn SHAP là đóng góp tuyệt đối vào lương (</a:t>
            </a: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triệu VND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giúp so sánh trực tiếp độ quan trọng giữa các đặc trưng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3768527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475" y="4133155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Các đặc trưng quan trọng nhất khớp với Decision Tree — kết quả ổn định giữa 2 mô hình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18" y="1914823"/>
            <a:ext cx="3493802" cy="42712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199"/>
            <a:ext cx="10868745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50" b="1" kern="0" spc="-7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19. Hệ thống gợi ý việc làm (Content-based)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738768" y="1196677"/>
            <a:ext cx="714159" cy="237827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32627" y="1243608"/>
            <a:ext cx="1136026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61934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952823"/>
            <a:ext cx="6143471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500" b="1" kern="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Bảng kết quả gợi 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1475" y="2349500"/>
            <a:ext cx="6143471" cy="2306340"/>
          </a:xfrm>
          <a:prstGeom prst="roundRect">
            <a:avLst>
              <a:gd name="adj" fmla="val 285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1475" y="2984897"/>
            <a:ext cx="6143471" cy="97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1475" y="3617119"/>
            <a:ext cx="6143471" cy="97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1475" y="4249341"/>
            <a:ext cx="6143471" cy="97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61932" y="2349500"/>
            <a:ext cx="9783" cy="230634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2785" y="2349500"/>
            <a:ext cx="9783" cy="230634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27219" y="2349500"/>
            <a:ext cx="9783" cy="230634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487" y="2439888"/>
            <a:ext cx="188739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Việc làm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1571" y="2439888"/>
            <a:ext cx="6615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2423" y="2439888"/>
            <a:ext cx="237474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Kỹ năng khớp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858" y="2439888"/>
            <a:ext cx="17648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Kỹ năng thiếu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487" y="3072110"/>
            <a:ext cx="188739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1571" y="3072110"/>
            <a:ext cx="12711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2423" y="3072110"/>
            <a:ext cx="17651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SQL, Machine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858" y="3072110"/>
            <a:ext cx="17648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487" y="3704332"/>
            <a:ext cx="188739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Engineer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1571" y="3704332"/>
            <a:ext cx="12711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2423" y="3704332"/>
            <a:ext cx="17651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Machine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858" y="3704332"/>
            <a:ext cx="17648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Docker, Spark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487" y="4336554"/>
            <a:ext cx="188739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1571" y="4336554"/>
            <a:ext cx="12711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2423" y="4336554"/>
            <a:ext cx="237474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858" y="4336554"/>
            <a:ext cx="176485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Spark, Airflow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93080" y="1952823"/>
            <a:ext cx="4343391" cy="495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500" b="1" kern="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Demo hồ sơ: [Python, SQL, Machine Learning]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93080" y="2633166"/>
            <a:ext cx="4343391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080" y="2837061"/>
            <a:ext cx="4343391" cy="217388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212642" y="3771592"/>
            <a:ext cx="815727" cy="24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Cần kỹ năng cơ bản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8877590" y="4825854"/>
            <a:ext cx="976270" cy="12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Khớp thấp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0696842" y="3771592"/>
            <a:ext cx="815728" cy="24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Cần kỹ năng chuyên sâu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875149" y="2926283"/>
            <a:ext cx="976270" cy="12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Khớp cao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410200" y="4351131"/>
            <a:ext cx="837423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 — Tương đồng 0.67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9560030" y="4355471"/>
            <a:ext cx="837423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khớp — Cần kỹ năng bổ sung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9560030" y="3552739"/>
            <a:ext cx="837423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 — Tương đồng 0.67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8384166" y="3552739"/>
            <a:ext cx="837423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Scientist — Tương đồng 1.0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7193080" y="5156696"/>
            <a:ext cx="4343391" cy="103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Kỹ năng được mã hóa thành ma trận </a:t>
            </a: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1500 việc × 45 kỹ năng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lọc theo </a:t>
            </a: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thành phố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kinh nghiệm ±0.5 năm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trước khi tính cosine để giảm nhiễu.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302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20. Gợi ý — Chart similarity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624769" y="2333526"/>
            <a:ext cx="94205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38173" y="2390180"/>
            <a:ext cx="1324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LUẬN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88051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33547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Điểm tương đồng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83907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Giữa hồ sơ demo và các việc trong kho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11551"/>
            <a:ext cx="5203794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Ưu tiên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hiển thị các việc có similarity cao nhất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Giúp người dùng nhanh chóng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 sánh mức độ phù hợp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3378398"/>
            <a:ext cx="5203794" cy="17838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21. Kết luận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750079" y="1070570"/>
            <a:ext cx="691537" cy="210741"/>
          </a:xfrm>
          <a:prstGeom prst="roundRect">
            <a:avLst>
              <a:gd name="adj" fmla="val 2213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33321" y="1112143"/>
            <a:ext cx="1134637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LUẬN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1475" y="143053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1700709"/>
            <a:ext cx="6385757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Pipeline khoa học dữ liệu end-to-end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019498"/>
            <a:ext cx="699534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Hoàn chỉnh, đáp ứng đủ các tiêu chí của học phần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303760"/>
            <a:ext cx="6385757" cy="1281410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Hồi quy: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RMSE giảm từ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8.97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(Baseline) xuống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4.17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(Linear, R²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0.783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rồi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0.60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(Decision Tree, R²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0.996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SHAP xác nhận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kinh nghiệm và nhóm kỹ năng là nhân tố chính quyết định lương, nhất quán giữa 2 mô hình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K-Means: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 =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(Silhouette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0.38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nhận diện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phân khúc thị trường rõ rệt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Content-based: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gợi ý </a:t>
            </a: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Top-3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việc phù hợp kèm kỹ năng còn thiếu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1475" y="3734395"/>
            <a:ext cx="6385757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475" y="3902670"/>
            <a:ext cx="699534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Toàn bộ RQ1-RQ5</a:t>
            </a: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được trả lời qua EDA (F1-F4), SHAP và hệ gợi 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92108" y="1700709"/>
            <a:ext cx="414436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RMSE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92108" y="1958280"/>
            <a:ext cx="4144363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0.60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087316" y="2407146"/>
            <a:ext cx="475394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92108" y="2748955"/>
            <a:ext cx="414436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92108" y="2917230"/>
            <a:ext cx="414436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92108" y="3174802"/>
            <a:ext cx="4144363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0.996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7087316" y="3623667"/>
            <a:ext cx="475394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92108" y="3965476"/>
            <a:ext cx="414436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92108" y="4133751"/>
            <a:ext cx="414436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💎</a:t>
            </a: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Silhouette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92108" y="4391323"/>
            <a:ext cx="4144363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0.38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7087316" y="4840188"/>
            <a:ext cx="475394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92108" y="5181997"/>
            <a:ext cx="414436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92108" y="5350272"/>
            <a:ext cx="414436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🎖️</a:t>
            </a:r>
            <a:r>
              <a:rPr lang="en-US" sz="1350" b="1" kern="0" spc="-4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Kết quả gợi ý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92108" y="5607844"/>
            <a:ext cx="4144363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Top-3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7087316" y="6056709"/>
            <a:ext cx="4753947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việc phù hợp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460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22. Hạn chế &amp; Hướng phát triển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624769" y="2095103"/>
            <a:ext cx="94205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38173" y="2151757"/>
            <a:ext cx="1324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LUẬN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64209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311636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Hạn chế của dữ liệu và mô hình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600648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Kỹ năng chi tiết chỉ xuất hiện trong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6.6%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tin, ảnh hưởng đến độ chính xác của đặc trưng kỹ năng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Dữ liệu thiên lệch địa lý: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TP.HCM ~50%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tin, trong khi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Đà Nẵng ~4%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 dấu hiệu overfit; dùng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 midpoint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56%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tin ẩn lương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11636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Hướng phát triển trong tương lai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600648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Crawler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truy cập sâu vào trang chi tiết từng tin, mở rộng số nguồn và cập nhật dữ liệu theo thời gian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Dùng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NLP/BERT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trích xuất đặc trưng ngữ nghĩa từ mô tả công việc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Thử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DBSCAN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Hierarchical Clustering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Recommendation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297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CẢM ƠN THẦY CÔ VÀ CÁC BẠN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624769" y="2873474"/>
            <a:ext cx="94205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38173" y="2930128"/>
            <a:ext cx="1324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LUẬN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342046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37765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ĐÃ LẮNG NGHE!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356682" y="453251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Q&amp;A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6364</Words>
  <Application>Microsoft Office PowerPoint</Application>
  <PresentationFormat>Widescreen</PresentationFormat>
  <Paragraphs>441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Inter</vt:lpstr>
      <vt:lpstr>Inter Bold</vt:lpstr>
      <vt:lpstr>Twemoji Mozilla</vt:lpstr>
      <vt:lpstr>Arial</vt:lpstr>
      <vt:lpstr>Consolas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Minh Tân</cp:lastModifiedBy>
  <cp:revision>5</cp:revision>
  <dcterms:created xsi:type="dcterms:W3CDTF">2026-08-13T13:59:02Z</dcterms:created>
  <dcterms:modified xsi:type="dcterms:W3CDTF">2026-08-15T03:45:58Z</dcterms:modified>
</cp:coreProperties>
</file>