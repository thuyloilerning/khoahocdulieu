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embeddedFontLst>
    <p:embeddedFont>
      <p:font typeface="Consolas" panose="020B0609020204030204" pitchFamily="49" charset="0"/>
      <p:regular r:id="rId26"/>
      <p:bold r:id="rId27"/>
      <p:italic r:id="rId28"/>
      <p:boldItalic r:id="rId29"/>
    </p:embeddedFont>
    <p:embeddedFont>
      <p:font typeface="Inter" panose="020B0604020202020204" charset="0"/>
      <p:regular r:id="rId30"/>
    </p:embeddedFont>
    <p:embeddedFont>
      <p:font typeface="Inter Bold" panose="020B0604020202020204" charset="0"/>
      <p:regular r:id="rId3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52075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648817"/>
            <a:ext cx="10868745" cy="944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PHÂN TÍCH THỊ TRƯỜNG VIỆC LÀM IT &amp; GỢI Ý ỨNG VIÊN BẰNG MACHINE LEARNING</a:t>
            </a:r>
            <a:endParaRPr lang="en-US" sz="2950" dirty="0"/>
          </a:p>
        </p:txBody>
      </p:sp>
      <p:sp>
        <p:nvSpPr>
          <p:cNvPr id="3" name="Shape 1"/>
          <p:cNvSpPr/>
          <p:nvPr/>
        </p:nvSpPr>
        <p:spPr>
          <a:xfrm>
            <a:off x="5598675" y="2971800"/>
            <a:ext cx="994246" cy="287139"/>
          </a:xfrm>
          <a:prstGeom prst="roundRect">
            <a:avLst>
              <a:gd name="adj" fmla="val 22118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712079" y="3028454"/>
            <a:ext cx="1377023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GIỚI THIỆU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61475" y="3518793"/>
            <a:ext cx="10868745" cy="2540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1475" y="3874889"/>
            <a:ext cx="10868745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200" b="1" kern="0" spc="-67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Chuyên đề 4 — Lập trình cho Khoa học Dữ liệu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61475" y="4512766"/>
            <a:ext cx="10868745" cy="696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1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Học viên: </a:t>
            </a:r>
            <a:r>
              <a:rPr lang="en-US" sz="11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Nguyễn Minh Tan</a:t>
            </a:r>
            <a:r>
              <a:rPr lang="en-US" sz="11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GVHD: </a:t>
            </a:r>
            <a:r>
              <a:rPr lang="en-US" sz="1150" b="1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GS.</a:t>
            </a:r>
            <a:r>
              <a:rPr lang="en-US" sz="11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TS. Nguyễn Duy </a:t>
            </a:r>
            <a:r>
              <a:rPr lang="en-US" sz="1150" b="1" kern="0" spc="-30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Hàm</a:t>
            </a:r>
            <a:endParaRPr lang="en-US" sz="1150" dirty="0"/>
          </a:p>
          <a:p>
            <a:pPr marL="0" indent="0" algn="ctr">
              <a:lnSpc>
                <a:spcPct val="133000"/>
              </a:lnSpc>
              <a:buNone/>
            </a:pPr>
            <a:r>
              <a:rPr lang="en-US" sz="11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Tháng 8 năm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81447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2. NỘI DUNG TRÌNH BÀY</a:t>
            </a:r>
            <a:endParaRPr lang="en-US" sz="2950" dirty="0"/>
          </a:p>
        </p:txBody>
      </p:sp>
      <p:sp>
        <p:nvSpPr>
          <p:cNvPr id="3" name="Shape 1"/>
          <p:cNvSpPr/>
          <p:nvPr/>
        </p:nvSpPr>
        <p:spPr>
          <a:xfrm>
            <a:off x="661475" y="1679178"/>
            <a:ext cx="10868745" cy="2540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598675" y="1964432"/>
            <a:ext cx="994246" cy="287139"/>
          </a:xfrm>
          <a:prstGeom prst="roundRect">
            <a:avLst>
              <a:gd name="adj" fmla="val 22118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712079" y="2021086"/>
            <a:ext cx="1377023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GIỚI THIỆU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56682" y="2464197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Lộ trình trình bày được chia thành 5 phần chính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từ giới thiệu đề tài đến kết luận và hướng phát triển.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61475" y="3168253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PHẦN 1 – GIỚI THIỆU &amp; MỤC TIÊU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61475" y="3652540"/>
            <a:ext cx="581337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3-4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61475" y="4143970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PHẦN 2 – PHƯƠNG PHÁP XỬ LÝ DỮ LIỆU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661475" y="4628257"/>
            <a:ext cx="581337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5-9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61475" y="5119687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💡</a:t>
            </a: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PHẦN 3 – PHÂN TÍCH KHÁM PHÁ (EDA)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661475" y="5603974"/>
            <a:ext cx="581337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10-12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332776" y="3168253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🤖</a:t>
            </a: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PHẦN 4 – KẾT QUẢ MÔ HÌNH ML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6332776" y="3652540"/>
            <a:ext cx="581337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13-20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332776" y="4143970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💡</a:t>
            </a: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PHẦN 5 – KẾT LUẬN &amp; HƯỚNG PHÁT TRIỂN</a:t>
            </a: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6332776" y="4628257"/>
            <a:ext cx="581337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21-23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7666"/>
            <a:ext cx="10868745" cy="361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250" b="1" kern="0" spc="-6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3. Giới thiệu bài toán</a:t>
            </a:r>
            <a:endParaRPr lang="en-US" sz="2250" dirty="0"/>
          </a:p>
        </p:txBody>
      </p:sp>
      <p:sp>
        <p:nvSpPr>
          <p:cNvPr id="3" name="Shape 1"/>
          <p:cNvSpPr/>
          <p:nvPr/>
        </p:nvSpPr>
        <p:spPr>
          <a:xfrm>
            <a:off x="5715254" y="1120973"/>
            <a:ext cx="761187" cy="219869"/>
          </a:xfrm>
          <a:prstGeom prst="roundRect">
            <a:avLst>
              <a:gd name="adj" fmla="val 22115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802068" y="1164332"/>
            <a:ext cx="1197143" cy="133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GIỚI THIỆU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61475" y="1501577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61475" y="2032794"/>
            <a:ext cx="3134639" cy="1905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61475" y="2143224"/>
            <a:ext cx="3134639" cy="327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900" kern="0" spc="-23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📊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0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Thị trường IT Việt Nam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đang phát triển nhanh, nhu cầu tuyển dụng tập trung tại </a:t>
            </a:r>
            <a:r>
              <a:rPr lang="en-US" sz="90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Hà Nội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90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TP.HCM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và </a:t>
            </a:r>
            <a:r>
              <a:rPr lang="en-US" sz="90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Đà Nẵng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06839" y="2032794"/>
            <a:ext cx="3134639" cy="1905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906839" y="2143224"/>
            <a:ext cx="3134639" cy="4905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900" kern="0" spc="-23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💡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Tin tuyển dụng phân tán trên nhiều nền tảng với định dạng tự do, khiến ứng viên khó so sánh </a:t>
            </a:r>
            <a:r>
              <a:rPr lang="en-US" sz="90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lương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và </a:t>
            </a:r>
            <a:r>
              <a:rPr lang="en-US" sz="90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kỹ năng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giữa các nguồn.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61475" y="3079750"/>
            <a:ext cx="6380003" cy="1905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1475" y="3190180"/>
            <a:ext cx="6380003" cy="327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900" kern="0" spc="-23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📊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Bốn nền tảng lớn (</a:t>
            </a:r>
            <a:r>
              <a:rPr lang="en-US" sz="90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Itviec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90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Glints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90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TopCV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90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Careerviet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đăng tin theo các dạng khác nhau nên dữ liệu thu về không đồng nhất.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61475" y="3786386"/>
            <a:ext cx="6380003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61475" y="3966170"/>
            <a:ext cx="6380003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kern="0" spc="-5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700" b="1" kern="0" spc="-5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Mục tiêu của đề tài</a:t>
            </a:r>
            <a:endParaRPr lang="en-US" sz="17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4362152"/>
            <a:ext cx="3134639" cy="817959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01380" y="4525863"/>
            <a:ext cx="2731027" cy="4905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900" kern="0" spc="-23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Thu thập tự động tin tuyển dụng IT từ </a:t>
            </a:r>
            <a:r>
              <a:rPr lang="en-US" sz="90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 nguồn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bằng </a:t>
            </a:r>
            <a:r>
              <a:rPr lang="en-US" sz="90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Crawler v2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; làm sạch và chuẩn hóa </a:t>
            </a:r>
            <a:r>
              <a:rPr lang="en-US" sz="90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lương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90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kỹ năng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90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kinh nghiệm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về cùng một định dạng.</a:t>
            </a:r>
            <a:endParaRPr lang="en-US" sz="9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6839" y="4362152"/>
            <a:ext cx="3134639" cy="817959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146744" y="4525863"/>
            <a:ext cx="2731027" cy="4905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900" kern="0" spc="-23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💡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Dự báo mức lương thị trường bằng </a:t>
            </a:r>
            <a:r>
              <a:rPr lang="en-US" sz="90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 mô hình ML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và </a:t>
            </a:r>
            <a:r>
              <a:rPr lang="en-US" sz="90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K-Means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rồi gợi ý việc làm phù hợp với hồ sơ (</a:t>
            </a:r>
            <a:r>
              <a:rPr lang="en-US" sz="90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Content-based</a:t>
            </a: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).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7400839" y="1878310"/>
            <a:ext cx="4135632" cy="47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750" b="1" kern="0" spc="-11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1.193</a:t>
            </a:r>
            <a:endParaRPr lang="en-US" sz="3750" dirty="0"/>
          </a:p>
        </p:txBody>
      </p:sp>
      <p:sp>
        <p:nvSpPr>
          <p:cNvPr id="19" name="Text 15"/>
          <p:cNvSpPr/>
          <p:nvPr/>
        </p:nvSpPr>
        <p:spPr>
          <a:xfrm>
            <a:off x="7400839" y="2511227"/>
            <a:ext cx="4135632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kern="0" spc="-4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tin tuyển dụng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7400839" y="3031133"/>
            <a:ext cx="4135632" cy="47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750" b="1" kern="0" spc="-11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3750" dirty="0"/>
          </a:p>
        </p:txBody>
      </p:sp>
      <p:sp>
        <p:nvSpPr>
          <p:cNvPr id="21" name="Text 17"/>
          <p:cNvSpPr/>
          <p:nvPr/>
        </p:nvSpPr>
        <p:spPr>
          <a:xfrm>
            <a:off x="7400839" y="3664049"/>
            <a:ext cx="4135632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kern="0" spc="-4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nguồn dữ liệu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7400839" y="4183955"/>
            <a:ext cx="4135632" cy="47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750" b="1" kern="0" spc="-11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44</a:t>
            </a:r>
            <a:endParaRPr lang="en-US" sz="3750" dirty="0"/>
          </a:p>
        </p:txBody>
      </p:sp>
      <p:sp>
        <p:nvSpPr>
          <p:cNvPr id="23" name="Text 19"/>
          <p:cNvSpPr/>
          <p:nvPr/>
        </p:nvSpPr>
        <p:spPr>
          <a:xfrm>
            <a:off x="7400839" y="4816872"/>
            <a:ext cx="4135632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kern="0" spc="-4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thuộc tính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7400839" y="5336778"/>
            <a:ext cx="4135632" cy="47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750" b="1" kern="0" spc="-11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56%</a:t>
            </a:r>
            <a:endParaRPr lang="en-US" sz="3750" dirty="0"/>
          </a:p>
        </p:txBody>
      </p:sp>
      <p:sp>
        <p:nvSpPr>
          <p:cNvPr id="25" name="Text 21"/>
          <p:cNvSpPr/>
          <p:nvPr/>
        </p:nvSpPr>
        <p:spPr>
          <a:xfrm>
            <a:off x="7400839" y="5969695"/>
            <a:ext cx="4135632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kern="0" spc="-4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tin ẩn lương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4134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600" b="1" kern="0" spc="-7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4. Câu hỏi nghiên cứu RQ1-RQ5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527041" y="1222673"/>
            <a:ext cx="1137614" cy="251420"/>
          </a:xfrm>
          <a:prstGeom prst="roundRect">
            <a:avLst>
              <a:gd name="adj" fmla="val 22103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626257" y="1272282"/>
            <a:ext cx="1548766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PHƯƠNG PHÁP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61475" y="1678087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61475" y="2063849"/>
            <a:ext cx="6359862" cy="3897312"/>
          </a:xfrm>
          <a:prstGeom prst="roundRect">
            <a:avLst>
              <a:gd name="adj" fmla="val 1782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61475" y="2514104"/>
            <a:ext cx="6359862" cy="1033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61475" y="3202880"/>
            <a:ext cx="6359862" cy="1033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61475" y="3891657"/>
            <a:ext cx="6359862" cy="1033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1475" y="4580434"/>
            <a:ext cx="6359862" cy="1033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61475" y="5269210"/>
            <a:ext cx="6359862" cy="1033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095350" y="2063849"/>
            <a:ext cx="10337" cy="3897312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3218" y="2163366"/>
            <a:ext cx="3703247" cy="254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kern="0" spc="-26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📊</a:t>
            </a: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Câu hỏi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63819" y="2163366"/>
            <a:ext cx="319545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Phương pháp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3218" y="2610445"/>
            <a:ext cx="3093662" cy="496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RQ1:</a:t>
            </a: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Kỹ năng nào được yêu cầu nhiều nhất?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63819" y="2610445"/>
            <a:ext cx="319545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EDA — </a:t>
            </a: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top skills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3218" y="3299222"/>
            <a:ext cx="3093662" cy="496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RQ2:</a:t>
            </a: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Lương biến động theo kinh nghiệm, thành phố?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63819" y="3299222"/>
            <a:ext cx="319545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EDA — </a:t>
            </a: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groupby</a:t>
            </a: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boxplot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3218" y="3987998"/>
            <a:ext cx="3093662" cy="496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RQ3:</a:t>
            </a: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Có thể dự báo mức lương không, sai số bao nhiêu?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263819" y="3987998"/>
            <a:ext cx="319545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— </a:t>
            </a: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RMSE</a:t>
            </a: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MAE</a:t>
            </a: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R²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3218" y="4676775"/>
            <a:ext cx="3093662" cy="496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RQ4:</a:t>
            </a: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Thị trường phân khúc thành những nhóm nào?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63819" y="4676775"/>
            <a:ext cx="319545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K-Means — </a:t>
            </a: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silhouette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33218" y="5365552"/>
            <a:ext cx="3093662" cy="496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RQ5:</a:t>
            </a: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Việc nào phù hợp với hồ sơ kỹ năng?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263819" y="5365552"/>
            <a:ext cx="319545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Content-based — </a:t>
            </a: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cosine</a:t>
            </a:r>
            <a:endParaRPr lang="en-US" sz="1300" dirty="0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31100" y="2063849"/>
            <a:ext cx="4105371" cy="1274266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691642" y="2248198"/>
            <a:ext cx="3660485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kern="0" spc="-49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💡</a:t>
            </a:r>
            <a:r>
              <a:rPr lang="en-US" sz="1600" b="1" kern="0" spc="-4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Insight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691642" y="2657673"/>
            <a:ext cx="3660485" cy="496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Các câu hỏi được sắp theo 3 lớp: </a:t>
            </a: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khám phá dữ liệu</a:t>
            </a: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mô hình hoá</a:t>
            </a: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và </a:t>
            </a: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gợi ý việc làm</a:t>
            </a: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300" dirty="0"/>
          </a:p>
        </p:txBody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31100" y="3482777"/>
            <a:ext cx="4105371" cy="127426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691642" y="3667125"/>
            <a:ext cx="3660485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kern="0" spc="-49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🤖</a:t>
            </a:r>
            <a:r>
              <a:rPr lang="en-US" sz="1600" b="1" kern="0" spc="-4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ML metrics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7691642" y="4076601"/>
            <a:ext cx="3660485" cy="496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Nhấn mạnh các chỉ số chính: </a:t>
            </a: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RMSE</a:t>
            </a: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R²</a:t>
            </a: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và </a:t>
            </a: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Silhouette Score</a:t>
            </a: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300" dirty="0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31100" y="4901704"/>
            <a:ext cx="4105371" cy="1274266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691642" y="5086052"/>
            <a:ext cx="3660485" cy="26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kern="0" spc="-49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600" b="1" kern="0" spc="-4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Data pipeline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7691642" y="5495528"/>
            <a:ext cx="3660485" cy="496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Từ EDA đến clustering và content-based matching để trả lời toàn bộ RQ1-RQ5.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28352"/>
            <a:ext cx="10868745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b="1" kern="0" spc="-8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5. Kiến trúc hệ thống — Pipeline end-to-end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5486560" y="1403548"/>
            <a:ext cx="1218574" cy="269180"/>
          </a:xfrm>
          <a:prstGeom prst="roundRect">
            <a:avLst>
              <a:gd name="adj" fmla="val 22119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592821" y="1456630"/>
            <a:ext cx="1615638" cy="163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PHƯƠNG PHÁP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61475" y="1903809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1475" y="2320032"/>
            <a:ext cx="5218280" cy="283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kern="0" spc="-52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700" b="1" kern="0" spc="-5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Thu thập &amp; làm sạch dữ liệu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61475" y="2769394"/>
            <a:ext cx="5218280" cy="2371527"/>
          </a:xfrm>
          <a:prstGeom prst="rect">
            <a:avLst/>
          </a:prstGeom>
          <a:noFill/>
          <a:ln/>
        </p:spPr>
        <p:txBody>
          <a:bodyPr wrap="square" lIns="0" tIns="70882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Crawler v2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xoay vòng 3 User-Agent, giới hạn tốc độ 1–3 giây, chạy 22 từ khóa trên 4 nguồn, thu về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1.193 tin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Trích lọc theo 4 kỹ thuật (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JSON-LD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__NEXT_DATA__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HTML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API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rồi lưu dạng raw CSV + JSON kèm siêu dữ liệu nguồn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SalaryParser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đọc 8 cấu trúc lương (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56%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tin ẩn lương),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SkillNormalizer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gộp 188 quy tắc thành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45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kỹ năng chuẩn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ExperienceNormalizer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gán 5 bậc kinh nghiệm từ entry đến lead;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Deduplicator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loại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70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bản ghi trùng qua 4 pha kiểm tra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318290" y="2320032"/>
            <a:ext cx="5218280" cy="283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kern="0" spc="-52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🤖</a:t>
            </a:r>
            <a:r>
              <a:rPr lang="en-US" sz="1700" b="1" kern="0" spc="-5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Feature engineering &amp; mô hình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18290" y="2769394"/>
            <a:ext cx="5218280" cy="2371527"/>
          </a:xfrm>
          <a:prstGeom prst="rect">
            <a:avLst/>
          </a:prstGeom>
          <a:noFill/>
          <a:ln/>
        </p:spPr>
        <p:txBody>
          <a:bodyPr wrap="square" lIns="0" tIns="70882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ColumnTransformer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xử lý 3 nhóm đặc trưng —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numeric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(trung vị + chuẩn hóa),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categorical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(OneHot),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ordinal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Loại bỏ cột thô, mục tiêu là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salary_mid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tính bằng triệu VND mỗi tháng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Hồi quy giảm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RMSE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từ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8.97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xuống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4.17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(Linear) rồi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0.60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(Decision Tree)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K-Means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với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 = 10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đạt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Silhouette 0.38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; cosine similarity gợi ý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Top-3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việc phù hợp cho hồ sơ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61475" y="5430143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1475" y="5680273"/>
            <a:ext cx="10868745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29000"/>
              </a:lnSpc>
              <a:buNone/>
            </a:pPr>
            <a:r>
              <a:rPr lang="en-US" sz="1350" kern="0" spc="-28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💡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Insight: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Pipeline được tối ưu từ thu thập → chuẩn hóa → mô hình hóa → gợi ý việc làm, giúp dữ liệu sạch hơn và dự báo chính xác hơn.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51582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6. Crawler v2 — Thu thập dữ liệu</a:t>
            </a:r>
            <a:endParaRPr lang="en-US" sz="2950" dirty="0"/>
          </a:p>
        </p:txBody>
      </p:sp>
      <p:sp>
        <p:nvSpPr>
          <p:cNvPr id="3" name="Shape 1"/>
          <p:cNvSpPr/>
          <p:nvPr/>
        </p:nvSpPr>
        <p:spPr>
          <a:xfrm>
            <a:off x="5445882" y="1602085"/>
            <a:ext cx="1299832" cy="287139"/>
          </a:xfrm>
          <a:prstGeom prst="roundRect">
            <a:avLst>
              <a:gd name="adj" fmla="val 22118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559286" y="1658739"/>
            <a:ext cx="1682609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PHƯƠNG PHÁP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61475" y="2149078"/>
            <a:ext cx="10868745" cy="2540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1475" y="2623344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Thu thập &amp; kiểm soát truy cập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661475" y="3107630"/>
            <a:ext cx="5203794" cy="2932708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Crawler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chạy qua từng nguồn và từ khóa (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22 từ khóa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), dừng khi đủ số tin tối thiểu, lịch sử ghi vào </a:t>
            </a:r>
            <a:r>
              <a:rPr lang="en-US" sz="1450" kern="0" spc="-3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crawl_history.json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HttpClient (httpx)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bật xác thực SSL, tự động theo redirect và timeout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20 giây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để hạn chế lỗi kết nối bị chặn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Xoay vòng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 User-Agent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giới hạn tốc độ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1-3 giây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thử lại khi máy chủ trả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HTTP 429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Nhận diện trang bị chặn qua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BLOCKED_MARKERS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</a:t>
            </a:r>
            <a:r>
              <a:rPr lang="en-US" sz="1450" kern="0" spc="-3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captcha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450" kern="0" spc="-3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cf-challenge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332776" y="2623344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Trích xuất &amp; lưu trữ dữ liệu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332776" y="3107630"/>
            <a:ext cx="5203794" cy="2630289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 kỹ thuật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trích xuất dữ liệu: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JSON-LD Parsing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__NEXT_DATA__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HTML Parsing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bằng BeautifulSoup,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API JSON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JSON-LD Parsing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đọc dữ liệu nhúng trong thẻ script </a:t>
            </a:r>
            <a:r>
              <a:rPr lang="en-US" sz="1450" kern="0" spc="-3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application/ld+json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__NEXT_DATA__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lấy JSON state của trang Next.js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Lưu dữ liệu thô dạng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CSV + JSON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theo từng nguồn vào </a:t>
            </a:r>
            <a:r>
              <a:rPr lang="en-US" sz="1450" kern="0" spc="-3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data/raw/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kèm log siêu metadata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6079"/>
            <a:ext cx="10868745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b="1" kern="0" spc="-8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7. Làm sạch &amp; Chuẩn hóa dữ liệu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5486560" y="1311275"/>
            <a:ext cx="1218574" cy="269180"/>
          </a:xfrm>
          <a:prstGeom prst="roundRect">
            <a:avLst>
              <a:gd name="adj" fmla="val 22119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592821" y="1364357"/>
            <a:ext cx="1615638" cy="163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PHƯƠNG PHÁP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61475" y="1811536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1475" y="2227759"/>
            <a:ext cx="5218280" cy="338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b="1" kern="0" spc="-63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2050" b="1" kern="0" spc="-6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Vấn đề dữ liệu gốc</a:t>
            </a:r>
            <a:endParaRPr lang="en-US" sz="2050" dirty="0"/>
          </a:p>
        </p:txBody>
      </p:sp>
      <p:sp>
        <p:nvSpPr>
          <p:cNvPr id="7" name="Text 5"/>
          <p:cNvSpPr/>
          <p:nvPr/>
        </p:nvSpPr>
        <p:spPr>
          <a:xfrm>
            <a:off x="661475" y="2732385"/>
            <a:ext cx="5218280" cy="1822252"/>
          </a:xfrm>
          <a:prstGeom prst="rect">
            <a:avLst/>
          </a:prstGeom>
          <a:noFill/>
          <a:ln/>
        </p:spPr>
        <p:txBody>
          <a:bodyPr wrap="square" lIns="0" tIns="70882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Lương: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56% tin ẩn mức lương; còn lại viết dưới 8 dạng khác nhau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Kỹ năng: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Một kỹ năng có nhiều tên gọi gây nhiễu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Kinh nghiệm: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Mô tả tự do không có cấu trúc đồng nhất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Trùng lặp: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Cùng một tin được đăng lại trên nhiều nguồn hoặc nhiều ngày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318290" y="2227759"/>
            <a:ext cx="5218280" cy="338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b="1" kern="0" spc="-63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🤖</a:t>
            </a:r>
            <a:r>
              <a:rPr lang="en-US" sz="2050" b="1" kern="0" spc="-6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Cách xử lý</a:t>
            </a:r>
            <a:endParaRPr lang="en-US" sz="2050" dirty="0"/>
          </a:p>
        </p:txBody>
      </p:sp>
      <p:sp>
        <p:nvSpPr>
          <p:cNvPr id="9" name="Text 7"/>
          <p:cNvSpPr/>
          <p:nvPr/>
        </p:nvSpPr>
        <p:spPr>
          <a:xfrm>
            <a:off x="6318290" y="2732385"/>
            <a:ext cx="5218280" cy="2371527"/>
          </a:xfrm>
          <a:prstGeom prst="rect">
            <a:avLst/>
          </a:prstGeom>
          <a:noFill/>
          <a:ln/>
        </p:spPr>
        <p:txBody>
          <a:bodyPr wrap="square" lIns="0" tIns="70882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SalaryParser: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6 regex nhận diện 8 cấu trúc; USD→VND ×25.000; lương năm ×12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SkillNormalizer: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188 quy tắc đồng nghĩa → 45 kỹ năng chuẩn; fuzzy matching &gt;0.8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ExperienceNormalizer: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6 regex TV/EN → 5 bậc (entry → lead); gán -1 cho giá trị thiếu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Deduplicator: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4 pha (job_id, title+company, fuzzy title, fuzzy desc) → loại 70 bản ghi trùng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61475" y="5393134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61475" y="5643265"/>
            <a:ext cx="10868745" cy="678656"/>
          </a:xfrm>
          <a:prstGeom prst="roundRect">
            <a:avLst>
              <a:gd name="adj" fmla="val 10967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675" y="5882680"/>
            <a:ext cx="221451" cy="177205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237326" y="5853609"/>
            <a:ext cx="10725279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kern="0" spc="-28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💡 Tập trung chuẩn hóa các trường nhiễu cao để dữ liệu sạch hơn, giảm sai lệch cho các bước phân tích tiếp theo.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59098"/>
            <a:ext cx="10868745" cy="369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300" b="1" kern="0" spc="-7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8. Làm sạch — Chart dữ liệu thực tế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5588059" y="1158974"/>
            <a:ext cx="1015578" cy="224334"/>
          </a:xfrm>
          <a:prstGeom prst="roundRect">
            <a:avLst>
              <a:gd name="adj" fmla="val 22118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676659" y="1203226"/>
            <a:ext cx="1447962" cy="135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PHƯƠNG PHÁP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61475" y="1549995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1475" y="1851025"/>
            <a:ext cx="5254295" cy="283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kern="0" spc="-52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700" b="1" kern="0" spc="-5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Tỷ lệ giá trị thiếu theo cột</a:t>
            </a:r>
            <a:endParaRPr lang="en-US" sz="17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264073"/>
            <a:ext cx="4651556" cy="23082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1475" y="4702076"/>
            <a:ext cx="5254295" cy="42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salary_max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và </a:t>
            </a:r>
            <a:r>
              <a:rPr lang="en-US" sz="11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min_experience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thiếu nhiều nhất do tin ẩn lương và mô tả tự do.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282275" y="1851025"/>
            <a:ext cx="5254295" cy="283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kern="0" spc="-52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🤖</a:t>
            </a:r>
            <a:r>
              <a:rPr lang="en-US" sz="1700" b="1" kern="0" spc="-5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Phân bố số năm kinh nghiệm</a:t>
            </a:r>
            <a:endParaRPr lang="en-US" sz="17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275" y="2264073"/>
            <a:ext cx="4651556" cy="230465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282275" y="4698504"/>
            <a:ext cx="5863880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Đỉnh ở </a:t>
            </a:r>
            <a:r>
              <a:rPr lang="en-US" sz="11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1–3 năm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phần lớn tin tuyển dụng thuộc cấp độ </a:t>
            </a:r>
            <a:r>
              <a:rPr lang="en-US" sz="11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Junior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và </a:t>
            </a:r>
            <a:r>
              <a:rPr lang="en-US" sz="11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Mid-level</a:t>
            </a:r>
            <a:r>
              <a:rPr lang="en-US" sz="1150" kern="0" spc="-23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61475" y="5393234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661475" y="5578971"/>
            <a:ext cx="10868745" cy="719931"/>
          </a:xfrm>
          <a:prstGeom prst="roundRect">
            <a:avLst>
              <a:gd name="adj" fmla="val 8615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109" y="5741690"/>
            <a:ext cx="184542" cy="14763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41285" y="5731173"/>
            <a:ext cx="10241302" cy="427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kern="0" spc="-23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💡 </a:t>
            </a:r>
            <a:r>
              <a:rPr lang="en-US" sz="1150" b="1" kern="0" spc="-2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Insight:</a:t>
            </a:r>
            <a:r>
              <a:rPr lang="en-US" sz="1150" kern="0" spc="-23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Sự thiếu hụt dữ liệu ở lương và kinh nghiệm là động lực chính để xây dựng </a:t>
            </a:r>
            <a:r>
              <a:rPr lang="en-US" sz="1150" b="1" kern="0" spc="-2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SalaryParser</a:t>
            </a:r>
            <a:r>
              <a:rPr lang="en-US" sz="1150" kern="0" spc="-23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và </a:t>
            </a:r>
            <a:r>
              <a:rPr lang="en-US" sz="1150" b="1" kern="0" spc="-2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ExperienceNormalizer</a:t>
            </a:r>
            <a:r>
              <a:rPr lang="en-US" sz="1150" kern="0" spc="-23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nhằm tạo ra tập dữ liệu chuẩn cho ML.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9438"/>
            <a:ext cx="10868745" cy="428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650" b="1" kern="0" spc="-8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8. Feature Engineering</a:t>
            </a:r>
            <a:endParaRPr lang="en-US" sz="2650" dirty="0"/>
          </a:p>
        </p:txBody>
      </p:sp>
      <p:sp>
        <p:nvSpPr>
          <p:cNvPr id="3" name="Shape 1"/>
          <p:cNvSpPr/>
          <p:nvPr/>
        </p:nvSpPr>
        <p:spPr>
          <a:xfrm>
            <a:off x="5506602" y="1318121"/>
            <a:ext cx="1178392" cy="260152"/>
          </a:xfrm>
          <a:prstGeom prst="roundRect">
            <a:avLst>
              <a:gd name="adj" fmla="val 22124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609291" y="1369417"/>
            <a:ext cx="1582599" cy="1575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PHƯƠNG PHÁP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61475" y="1795661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1475" y="2187277"/>
            <a:ext cx="5225423" cy="642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6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🤖</a:t>
            </a:r>
            <a:r>
              <a:rPr lang="en-US" sz="2000" b="1" kern="0" spc="-6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3 nhóm đặc trưng trong ColumnTransformer [3]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61475" y="2984798"/>
            <a:ext cx="5225423" cy="1962646"/>
          </a:xfrm>
          <a:prstGeom prst="rect">
            <a:avLst/>
          </a:prstGeom>
          <a:noFill/>
          <a:ln/>
        </p:spPr>
        <p:txBody>
          <a:bodyPr wrap="square" lIns="0" tIns="68519" rIns="0" bIns="0" rtlCol="0" anchor="t">
            <a:normAutofit/>
          </a:bodyPr>
          <a:lstStyle/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Numeric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</a:t>
            </a: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experience_years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): điền giá trị thiếu bằng trung vị rồi chuẩn hóa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Categorical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</a:t>
            </a: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city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job_type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remote_option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education_level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industry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company_size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): điền "Unknown" khi thiếu, OneHotEncoder bỏ qua giá trị mới lạ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Ordinal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</a:t>
            </a: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experience_bin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từ entry đến lead): giữ thứ tự qua OrdinalEncoder, giá trị thiếu gán -1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1475" y="5164832"/>
            <a:ext cx="5225423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1475" y="5401270"/>
            <a:ext cx="5225423" cy="321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6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Biến mục tiêu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61475" y="5877620"/>
            <a:ext cx="5835008" cy="261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salary_mid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(triệu VND/tháng)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11147" y="2171799"/>
            <a:ext cx="5225423" cy="1111945"/>
          </a:xfrm>
          <a:prstGeom prst="rect">
            <a:avLst/>
          </a:prstGeom>
          <a:noFill/>
          <a:ln/>
        </p:spPr>
        <p:txBody>
          <a:bodyPr wrap="square" lIns="0" tIns="68519" rIns="0" bIns="0" rtlCol="0" anchor="t">
            <a:normAutofit/>
          </a:bodyPr>
          <a:lstStyle/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Loại cột thô (</a:t>
            </a: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job_id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source_url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...); ColumnTransformer dùng </a:t>
            </a: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remainder="drop"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Chia dữ liệu </a:t>
            </a:r>
            <a:r>
              <a:rPr lang="en-US" sz="13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80/20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và đánh giá </a:t>
            </a:r>
            <a:r>
              <a:rPr lang="en-US" sz="13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5-fold cross-validation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để ước lượng độ ổn định của mô hình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11147" y="3458369"/>
            <a:ext cx="5225423" cy="893762"/>
          </a:xfrm>
          <a:prstGeom prst="roundRect">
            <a:avLst>
              <a:gd name="adj" fmla="val 8050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2394" y="3696891"/>
            <a:ext cx="214109" cy="17125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867750" y="3640832"/>
            <a:ext cx="4497573" cy="5288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kern="0" spc="-27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💡 Tập trung vào chuẩn hóa đầu vào để mô hình học ổn định hơn và giảm nhiễu từ dữ liệu thiếu.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5150"/>
            <a:ext cx="10868745" cy="4134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600" b="1" kern="0" spc="-7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10. Dữ liệu sau xử lý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648184" y="1268016"/>
            <a:ext cx="895328" cy="251420"/>
          </a:xfrm>
          <a:prstGeom prst="roundRect">
            <a:avLst>
              <a:gd name="adj" fmla="val 22103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747400" y="1317625"/>
            <a:ext cx="1306480" cy="1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PHÂN TÍCH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61475" y="1723430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61475" y="2109192"/>
            <a:ext cx="5683505" cy="3339505"/>
          </a:xfrm>
          <a:prstGeom prst="roundRect">
            <a:avLst>
              <a:gd name="adj" fmla="val 2080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61475" y="2553097"/>
            <a:ext cx="5683505" cy="1033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61475" y="2993827"/>
            <a:ext cx="5683505" cy="1033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61475" y="3434556"/>
            <a:ext cx="5683505" cy="1033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1475" y="4123333"/>
            <a:ext cx="5683505" cy="1033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61475" y="4564062"/>
            <a:ext cx="5683505" cy="1033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61475" y="5004792"/>
            <a:ext cx="5683505" cy="1033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956943" y="2109192"/>
            <a:ext cx="10337" cy="3339505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33218" y="2208709"/>
            <a:ext cx="3564841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Thuộc tính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25412" y="2208709"/>
            <a:ext cx="265750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Giá trị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3218" y="2649438"/>
            <a:ext cx="3564841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Tổng bản ghi việc làm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5412" y="2649438"/>
            <a:ext cx="265750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1.193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3218" y="3090168"/>
            <a:ext cx="3564841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Số thuộc tính (cột)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25412" y="3090168"/>
            <a:ext cx="265750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3218" y="3530898"/>
            <a:ext cx="3564841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Nguồn dữ liệu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125412" y="3530898"/>
            <a:ext cx="2047923" cy="496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Itviec, Glints, TopCV, Careerviet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3218" y="4219674"/>
            <a:ext cx="3564841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Tỷ lệ ẩn lương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25412" y="4219674"/>
            <a:ext cx="265750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56%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33218" y="4660404"/>
            <a:ext cx="3564841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Độ phủ kỹ năng chi tiết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125412" y="4660404"/>
            <a:ext cx="265750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6.6%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33218" y="5101134"/>
            <a:ext cx="3564841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Bản ghi trùng đã loại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125412" y="5101134"/>
            <a:ext cx="265750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70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754743" y="2191841"/>
            <a:ext cx="2300428" cy="545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250" b="1" kern="0" spc="-12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1.193</a:t>
            </a:r>
            <a:endParaRPr lang="en-US" sz="4250" dirty="0"/>
          </a:p>
        </p:txBody>
      </p:sp>
      <p:sp>
        <p:nvSpPr>
          <p:cNvPr id="29" name="Text 27"/>
          <p:cNvSpPr/>
          <p:nvPr/>
        </p:nvSpPr>
        <p:spPr>
          <a:xfrm>
            <a:off x="6754743" y="2928739"/>
            <a:ext cx="2300428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kern="0" spc="-4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tin tuyển dụng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36042" y="2191841"/>
            <a:ext cx="2300428" cy="545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250" b="1" kern="0" spc="-12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4250" dirty="0"/>
          </a:p>
        </p:txBody>
      </p:sp>
      <p:sp>
        <p:nvSpPr>
          <p:cNvPr id="31" name="Text 29"/>
          <p:cNvSpPr/>
          <p:nvPr/>
        </p:nvSpPr>
        <p:spPr>
          <a:xfrm>
            <a:off x="9236042" y="2928739"/>
            <a:ext cx="2300428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kern="0" spc="-4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nguồn dữ liệu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754743" y="3559274"/>
            <a:ext cx="2300428" cy="545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250" b="1" kern="0" spc="-12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56%</a:t>
            </a:r>
            <a:endParaRPr lang="en-US" sz="4250" dirty="0"/>
          </a:p>
        </p:txBody>
      </p:sp>
      <p:sp>
        <p:nvSpPr>
          <p:cNvPr id="33" name="Text 31"/>
          <p:cNvSpPr/>
          <p:nvPr/>
        </p:nvSpPr>
        <p:spPr>
          <a:xfrm>
            <a:off x="6754743" y="4296172"/>
            <a:ext cx="2300428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kern="0" spc="-4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tin ẩn lương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236042" y="3559274"/>
            <a:ext cx="2300428" cy="545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250" b="1" kern="0" spc="-12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6.6%</a:t>
            </a:r>
            <a:endParaRPr lang="en-US" sz="4250" dirty="0"/>
          </a:p>
        </p:txBody>
      </p:sp>
      <p:sp>
        <p:nvSpPr>
          <p:cNvPr id="35" name="Text 33"/>
          <p:cNvSpPr/>
          <p:nvPr/>
        </p:nvSpPr>
        <p:spPr>
          <a:xfrm>
            <a:off x="9236042" y="4296172"/>
            <a:ext cx="2300428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kern="0" spc="-4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độ phủ kỹ năng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1475" y="5815409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61475" y="6038453"/>
            <a:ext cx="11478330" cy="254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kern="0" spc="-26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📊</a:t>
            </a: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1.193</a:t>
            </a: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tin tuyển dụng · </a:t>
            </a: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44</a:t>
            </a: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thuộc tính · </a:t>
            </a:r>
            <a:r>
              <a:rPr lang="en-US" sz="130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r>
              <a:rPr lang="en-US" sz="13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nguồn tuyển dụng chính tại Việt Nam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86693"/>
            <a:ext cx="10868745" cy="450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800" b="1" kern="0" spc="-85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11. Phân tích khám phá dữ liệu (EDA)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608200" y="1480542"/>
            <a:ext cx="975197" cy="273645"/>
          </a:xfrm>
          <a:prstGeom prst="roundRect">
            <a:avLst>
              <a:gd name="adj" fmla="val 22121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716246" y="1534517"/>
            <a:ext cx="1368688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61475" y="1992313"/>
            <a:ext cx="10868745" cy="2540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1475" y="2427486"/>
            <a:ext cx="5214609" cy="344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b="1" kern="0" spc="-64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2100" b="1" kern="0" spc="-6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F1 — Nhóm kỹ năng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61475" y="2943324"/>
            <a:ext cx="5214609" cy="1527473"/>
          </a:xfrm>
          <a:prstGeom prst="rect">
            <a:avLst/>
          </a:prstGeom>
          <a:noFill/>
          <a:ln/>
        </p:spPr>
        <p:txBody>
          <a:bodyPr wrap="square" lIns="0" tIns="72063" rIns="0" bIns="0" rtlCol="0" anchor="t">
            <a:normAutofit/>
          </a:bodyPr>
          <a:lstStyle/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Science</a:t>
            </a: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&amp; </a:t>
            </a:r>
            <a:r>
              <a:rPr lang="en-US" sz="14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Lập trình</a:t>
            </a: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xuất hiện nhiều nhất trong </a:t>
            </a:r>
            <a:r>
              <a:rPr lang="en-US" sz="14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1.193</a:t>
            </a: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tin</a:t>
            </a:r>
            <a:endParaRPr lang="en-US" sz="1400" dirty="0"/>
          </a:p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Top kỹ năng:</a:t>
            </a: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JavaScript, React, Kafka, Python</a:t>
            </a:r>
            <a:endParaRPr lang="en-US" sz="1400" dirty="0"/>
          </a:p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Nhóm công cụ nổi bật:</a:t>
            </a: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SQL, Docker, Spring Boot, TensorFlow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61475" y="4708922"/>
            <a:ext cx="5214609" cy="2540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1475" y="4972447"/>
            <a:ext cx="5214609" cy="344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b="1" kern="0" spc="-64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💡</a:t>
            </a:r>
            <a:r>
              <a:rPr lang="en-US" sz="2100" b="1" kern="0" spc="-6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F2 — Lương tăng theo bậc kinh nghiệm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61475" y="5488285"/>
            <a:ext cx="5214609" cy="622995"/>
          </a:xfrm>
          <a:prstGeom prst="rect">
            <a:avLst/>
          </a:prstGeom>
          <a:noFill/>
          <a:ln/>
        </p:spPr>
        <p:txBody>
          <a:bodyPr wrap="square" lIns="0" tIns="72063" rIns="0" bIns="0" rtlCol="0" anchor="t">
            <a:normAutofit/>
          </a:bodyPr>
          <a:lstStyle/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Entry ~10M</a:t>
            </a: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→ </a:t>
            </a:r>
            <a:r>
              <a:rPr lang="en-US" sz="14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Mid ~17M</a:t>
            </a: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→ </a:t>
            </a:r>
            <a:r>
              <a:rPr lang="en-US" sz="14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Senior ~28M</a:t>
            </a: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→ </a:t>
            </a:r>
            <a:r>
              <a:rPr lang="en-US" sz="14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Lead ~35M+</a:t>
            </a:r>
            <a:endParaRPr lang="en-US" sz="1400" dirty="0"/>
          </a:p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TP.HCM</a:t>
            </a: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&amp; </a:t>
            </a:r>
            <a:r>
              <a:rPr lang="en-US" sz="14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Hà Nội</a:t>
            </a: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có lương trung bình cao hơn rõ rệt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21961" y="2427486"/>
            <a:ext cx="5214609" cy="344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b="1" kern="0" spc="-64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🤖</a:t>
            </a:r>
            <a:r>
              <a:rPr lang="en-US" sz="2100" b="1" kern="0" spc="-6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F3 — Yêu cầu tiếng Anh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321961" y="2943324"/>
            <a:ext cx="5824193" cy="281484"/>
          </a:xfrm>
          <a:prstGeom prst="rect">
            <a:avLst/>
          </a:prstGeom>
          <a:noFill/>
          <a:ln/>
        </p:spPr>
        <p:txBody>
          <a:bodyPr wrap="none" lIns="0" tIns="72063" rIns="0" bIns="0" rtlCol="0" anchor="t"/>
          <a:lstStyle/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Tin yêu cầu tiếng Anh có lương trung bình cao hơn </a:t>
            </a:r>
            <a:r>
              <a:rPr lang="en-US" sz="14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~30%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21961" y="3462933"/>
            <a:ext cx="5214609" cy="2540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21961" y="3726458"/>
            <a:ext cx="5214609" cy="344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b="1" kern="0" spc="-64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💡</a:t>
            </a:r>
            <a:r>
              <a:rPr lang="en-US" sz="2100" b="1" kern="0" spc="-6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F4 — Vị trí cấp cao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321961" y="4242296"/>
            <a:ext cx="5824193" cy="281484"/>
          </a:xfrm>
          <a:prstGeom prst="rect">
            <a:avLst/>
          </a:prstGeom>
          <a:noFill/>
          <a:ln/>
        </p:spPr>
        <p:txBody>
          <a:bodyPr wrap="none" lIns="0" tIns="72063" rIns="0" bIns="0" rtlCol="0" anchor="t"/>
          <a:lstStyle/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Senior</a:t>
            </a: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4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Manager</a:t>
            </a: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4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Lead</a:t>
            </a:r>
            <a:r>
              <a:rPr lang="en-US" sz="14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có tỷ lệ ẩn lương </a:t>
            </a:r>
            <a:r>
              <a:rPr lang="en-US" sz="14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&gt;50%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92435"/>
            <a:ext cx="10868745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50" b="1" kern="0" spc="-6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12. EDA — Chart chi tiết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5806037" y="1080591"/>
            <a:ext cx="579522" cy="192980"/>
          </a:xfrm>
          <a:prstGeom prst="roundRect">
            <a:avLst>
              <a:gd name="adj" fmla="val 22112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882235" y="1118691"/>
            <a:ext cx="1036711" cy="116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kern="0" spc="-2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KẾT QUẢ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661475" y="1401266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1475" y="1633339"/>
            <a:ext cx="527949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kern="0" spc="-45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450" b="1" kern="0" spc="-45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Tỷ lệ tin tuyển dụng theo từng nhóm kỹ năng</a:t>
            </a:r>
            <a:endParaRPr lang="en-US" sz="14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67409"/>
            <a:ext cx="5279496" cy="5279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1475" y="2591296"/>
            <a:ext cx="5889081" cy="1698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950" b="1" kern="0" spc="-2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Insight:</a:t>
            </a:r>
            <a:r>
              <a:rPr lang="en-US" sz="950" kern="0" spc="-2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Phân bổ tin tuyển dụng cho thấy sự tập trung rõ ở các nhóm kỹ năng cốt lõi.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61475" y="2888853"/>
            <a:ext cx="5279496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61475" y="3035598"/>
            <a:ext cx="527949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kern="0" spc="-45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🤖</a:t>
            </a:r>
            <a:r>
              <a:rPr lang="en-US" sz="1450" b="1" kern="0" spc="-45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Lương trung bình theo yêu cầu tiếng Anh</a:t>
            </a:r>
            <a:endParaRPr lang="en-US" sz="14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75" y="3369667"/>
            <a:ext cx="3936902" cy="238343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61475" y="5849045"/>
            <a:ext cx="5279496" cy="3397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950" b="1" kern="0" spc="-2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Insight:</a:t>
            </a:r>
            <a:r>
              <a:rPr lang="en-US" sz="950" kern="0" spc="-2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Tin có yêu cầu tiếng Anh thường đi kèm mức lương cao hơn, phản ánh tính cạnh tranh của vị trí.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6257074" y="1633339"/>
            <a:ext cx="527949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kern="0" spc="-45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💡</a:t>
            </a:r>
            <a:r>
              <a:rPr lang="en-US" sz="1450" b="1" kern="0" spc="-45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20 kỹ năng được nhà tuyển dụng yêu cầu nhiều nhất</a:t>
            </a:r>
            <a:endParaRPr lang="en-US" sz="145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7074" y="1967409"/>
            <a:ext cx="3936902" cy="206861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57074" y="4131965"/>
            <a:ext cx="5889081" cy="1698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950" b="1" kern="0" spc="-2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Insight:</a:t>
            </a:r>
            <a:r>
              <a:rPr lang="en-US" sz="950" kern="0" spc="-2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JavaScript, React, Python, SQL và Docker là các kỹ năng xuất hiện dày đặc nhất.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6257074" y="4429522"/>
            <a:ext cx="5279496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/>
          <p:nvPr/>
        </p:nvSpPr>
        <p:spPr>
          <a:xfrm>
            <a:off x="6257074" y="4576266"/>
            <a:ext cx="5279496" cy="569317"/>
          </a:xfrm>
          <a:prstGeom prst="rect">
            <a:avLst/>
          </a:prstGeom>
          <a:noFill/>
          <a:ln/>
        </p:spPr>
        <p:txBody>
          <a:bodyPr wrap="square" lIns="0" tIns="50799" rIns="0" bIns="0" rtlCol="0" anchor="t">
            <a:normAutofit/>
          </a:bodyPr>
          <a:lstStyle/>
          <a:p>
            <a:pPr marL="193040" indent="-193040" algn="l">
              <a:lnSpc>
                <a:spcPct val="111000"/>
              </a:lnSpc>
              <a:buSzPct val="100000"/>
              <a:buChar char="•"/>
            </a:pPr>
            <a:r>
              <a:rPr lang="en-US" sz="950" kern="0" spc="-2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📊</a:t>
            </a:r>
            <a:r>
              <a:rPr lang="en-US" sz="950" kern="0" spc="-2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Nhóm kỹ năng có tác động mạnh đến nhu cầu tuyển dụng</a:t>
            </a:r>
            <a:endParaRPr lang="en-US" sz="950" dirty="0"/>
          </a:p>
          <a:p>
            <a:pPr marL="193040" indent="-193040" algn="l">
              <a:lnSpc>
                <a:spcPct val="111000"/>
              </a:lnSpc>
              <a:buSzPct val="100000"/>
              <a:buChar char="•"/>
            </a:pPr>
            <a:r>
              <a:rPr lang="en-US" sz="950" kern="0" spc="-2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</a:t>
            </a:r>
            <a:r>
              <a:rPr lang="en-US" sz="950" kern="0" spc="-2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Yêu cầu tiếng Anh liên quan đến mức lương cao hơn</a:t>
            </a:r>
            <a:endParaRPr lang="en-US" sz="950" dirty="0"/>
          </a:p>
          <a:p>
            <a:pPr marL="193040" indent="-193040" algn="l">
              <a:lnSpc>
                <a:spcPct val="111000"/>
              </a:lnSpc>
              <a:buSzPct val="100000"/>
              <a:buChar char="•"/>
            </a:pPr>
            <a:r>
              <a:rPr lang="en-US" sz="950" kern="0" spc="-2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💡</a:t>
            </a:r>
            <a:r>
              <a:rPr lang="en-US" sz="950" kern="0" spc="-2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Các kỹ năng phổ biến tập trung vào lập trình, dữ liệu và hệ thống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9636"/>
            <a:ext cx="10868745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b="1" kern="0" spc="-8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13. Kết quả mô hình dự báo lương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5691740" y="1354832"/>
            <a:ext cx="808216" cy="269180"/>
          </a:xfrm>
          <a:prstGeom prst="roundRect">
            <a:avLst>
              <a:gd name="adj" fmla="val 22119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798000" y="1407914"/>
            <a:ext cx="1205279" cy="163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0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KẾT QUẢ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61475" y="1855093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1475" y="2271316"/>
            <a:ext cx="4088107" cy="338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b="1" kern="0" spc="-63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🤖</a:t>
            </a:r>
            <a:r>
              <a:rPr lang="en-US" sz="2050" b="1" kern="0" spc="-6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ML &amp; INSIGHT</a:t>
            </a:r>
            <a:endParaRPr lang="en-US" sz="2050" dirty="0"/>
          </a:p>
        </p:txBody>
      </p:sp>
      <p:sp>
        <p:nvSpPr>
          <p:cNvPr id="7" name="Text 5"/>
          <p:cNvSpPr/>
          <p:nvPr/>
        </p:nvSpPr>
        <p:spPr>
          <a:xfrm>
            <a:off x="661475" y="2775942"/>
            <a:ext cx="4088107" cy="2704306"/>
          </a:xfrm>
          <a:prstGeom prst="rect">
            <a:avLst/>
          </a:prstGeom>
          <a:noFill/>
          <a:ln/>
        </p:spPr>
        <p:txBody>
          <a:bodyPr wrap="square" lIns="0" tIns="70882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Linear Regression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giảm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RMSE 53.5%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so với Baseline trung bình.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Decision Tree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giảm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RMSE 93.3%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so với Baseline trung bình.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12 sai số lớn nhất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đều dưới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2.1 triệu VND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Residual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phân bố quanh mức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std ≈ 0.6M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), dự đoán không thiên lệch.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Random Forest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có dấu hiệu </a:t>
            </a: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overfit</a:t>
            </a: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trên tập dữ liệu hiện tại.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188118" y="2271316"/>
            <a:ext cx="6348353" cy="338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b="1" kern="0" spc="-63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2050" b="1" kern="0" spc="-6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DỮ LIỆU</a:t>
            </a:r>
            <a:endParaRPr lang="en-US" sz="2050" dirty="0"/>
          </a:p>
        </p:txBody>
      </p:sp>
      <p:sp>
        <p:nvSpPr>
          <p:cNvPr id="9" name="Shape 7"/>
          <p:cNvSpPr/>
          <p:nvPr/>
        </p:nvSpPr>
        <p:spPr>
          <a:xfrm>
            <a:off x="5188118" y="2796679"/>
            <a:ext cx="6348353" cy="3294856"/>
          </a:xfrm>
          <a:prstGeom prst="roundRect">
            <a:avLst>
              <a:gd name="adj" fmla="val 2259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188118" y="3567410"/>
            <a:ext cx="6348353" cy="11076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188118" y="4334966"/>
            <a:ext cx="6348353" cy="11076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188118" y="5102523"/>
            <a:ext cx="6348353" cy="11076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188118" y="5595441"/>
            <a:ext cx="6348353" cy="11076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968653" y="2796679"/>
            <a:ext cx="11075" cy="3294856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89142" y="2796679"/>
            <a:ext cx="11075" cy="3294856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0009632" y="2796679"/>
            <a:ext cx="11075" cy="3294856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371966" y="2908995"/>
            <a:ext cx="2025897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Mô hình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149028" y="2908995"/>
            <a:ext cx="1159739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RMSE</a:t>
            </a:r>
            <a:endParaRPr lang="en-US" sz="1350" dirty="0"/>
          </a:p>
          <a:p>
            <a:pPr marL="0" indent="0" algn="l">
              <a:lnSpc>
                <a:spcPct val="129000"/>
              </a:lnSpc>
              <a:buNone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(Triệu VND)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669517" y="2908995"/>
            <a:ext cx="1159739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MAE</a:t>
            </a:r>
            <a:endParaRPr lang="en-US" sz="1350" dirty="0"/>
          </a:p>
          <a:p>
            <a:pPr marL="0" indent="0" algn="l">
              <a:lnSpc>
                <a:spcPct val="129000"/>
              </a:lnSpc>
              <a:buNone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(Triệu VND)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190007" y="2908995"/>
            <a:ext cx="1772499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R² Score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371966" y="3676551"/>
            <a:ext cx="1416312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Baseline (Dummy Mean)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149028" y="3676551"/>
            <a:ext cx="1769324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8.97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669517" y="3676551"/>
            <a:ext cx="1769324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7.36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0190007" y="3676551"/>
            <a:ext cx="1772499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-0.010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71966" y="4444107"/>
            <a:ext cx="1416312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Linear Regression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149028" y="4444107"/>
            <a:ext cx="1769324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4.17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669517" y="4444107"/>
            <a:ext cx="1769324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2.94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0190007" y="4444107"/>
            <a:ext cx="1772499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0.783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5371966" y="5211663"/>
            <a:ext cx="2025897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Tree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149028" y="5211663"/>
            <a:ext cx="1769324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0.60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669517" y="5211663"/>
            <a:ext cx="1769324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0.18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0190007" y="5211663"/>
            <a:ext cx="1772499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0.996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5371966" y="5704582"/>
            <a:ext cx="2025897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Random Forest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149028" y="5704582"/>
            <a:ext cx="1769324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~0.00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8669517" y="5704582"/>
            <a:ext cx="1769324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~0.00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10190007" y="5704582"/>
            <a:ext cx="1772499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~1.000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8340"/>
            <a:ext cx="10868745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400" b="1" kern="0" spc="-7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14. SHAP — Giải thích mô hình Decision Tree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745813" y="1161852"/>
            <a:ext cx="700070" cy="233263"/>
          </a:xfrm>
          <a:prstGeom prst="roundRect">
            <a:avLst>
              <a:gd name="adj" fmla="val 22122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837885" y="1207889"/>
            <a:ext cx="1125509" cy="141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5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KẾT QUẢ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61475" y="1573709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11648"/>
            <a:ext cx="3800975" cy="42776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89518" y="1896070"/>
            <a:ext cx="5247052" cy="8637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kern="0" spc="-54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🤖</a:t>
            </a:r>
            <a:r>
              <a:rPr lang="en-US" sz="1800" b="1" kern="0" spc="-5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TreeExplainer tính đóng góp của 21 đặc trưng cho từng tin trong 105 tin kiểm thử (20% tập dữ liệu)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289518" y="2809776"/>
            <a:ext cx="5247052" cy="8637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kern="0" spc="-54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💡</a:t>
            </a:r>
            <a:r>
              <a:rPr lang="en-US" sz="1800" b="1" kern="0" spc="-5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experience_years và nhóm kỹ năng đóng góp lớn nhất — kinh nghiệm là yếu tố quyết định mức lương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289518" y="3798292"/>
            <a:ext cx="5247052" cy="451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📊</a:t>
            </a: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00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Đỏ</a:t>
            </a: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đẩy lương lên, </a:t>
            </a:r>
            <a:r>
              <a:rPr lang="en-US" sz="1200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xanh</a:t>
            </a: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kéo lương xuống — độ trải rộng của điểm màu phản ánh tác động phi tuyến của Decision Tree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9518" y="4428530"/>
            <a:ext cx="5247052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289518" y="4626173"/>
            <a:ext cx="5856637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SHAP summary plot</a:t>
            </a: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(nguồn: scripts/generate_shap_plots.py)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5150"/>
            <a:ext cx="10868745" cy="4060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550" b="1" kern="0" spc="-77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15. Kết quả ML — Chart</a:t>
            </a:r>
            <a:endParaRPr lang="en-US" sz="2550" dirty="0"/>
          </a:p>
        </p:txBody>
      </p:sp>
      <p:sp>
        <p:nvSpPr>
          <p:cNvPr id="3" name="Shape 1"/>
          <p:cNvSpPr/>
          <p:nvPr/>
        </p:nvSpPr>
        <p:spPr>
          <a:xfrm>
            <a:off x="5725374" y="1250255"/>
            <a:ext cx="740848" cy="246856"/>
          </a:xfrm>
          <a:prstGeom prst="roundRect">
            <a:avLst>
              <a:gd name="adj" fmla="val 22110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822804" y="1298972"/>
            <a:ext cx="1155572" cy="1494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KẾT QUẢ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61475" y="1694656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068215"/>
            <a:ext cx="5035523" cy="1757362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332" y="2068215"/>
            <a:ext cx="5035523" cy="247173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61475" y="4894461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661475" y="5236666"/>
            <a:ext cx="5845823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kern="0" spc="-26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📊</a:t>
            </a:r>
            <a:r>
              <a:rPr lang="en-US" sz="125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Dữ liệu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661475" y="5603875"/>
            <a:ext cx="5845823" cy="241598"/>
          </a:xfrm>
          <a:prstGeom prst="rect">
            <a:avLst/>
          </a:prstGeom>
          <a:noFill/>
          <a:ln/>
        </p:spPr>
        <p:txBody>
          <a:bodyPr wrap="none" lIns="0" tIns="64975" rIns="0" bIns="0" rtlCol="0" anchor="t"/>
          <a:lstStyle/>
          <a:p>
            <a:pPr marL="254000" indent="-254000" algn="l">
              <a:lnSpc>
                <a:spcPct val="124000"/>
              </a:lnSpc>
              <a:buSzPct val="100000"/>
              <a:buChar char="•"/>
            </a:pPr>
            <a:r>
              <a:rPr lang="en-US" sz="125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Sai số dự đoán (</a:t>
            </a:r>
            <a:r>
              <a:rPr lang="en-US" sz="125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residual</a:t>
            </a:r>
            <a:r>
              <a:rPr lang="en-US" sz="125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phân bố quanh mức </a:t>
            </a:r>
            <a:r>
              <a:rPr lang="en-US" sz="125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6300332" y="5236666"/>
            <a:ext cx="5845823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kern="0" spc="-26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</a:t>
            </a:r>
            <a:r>
              <a:rPr lang="en-US" sz="125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ML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6300332" y="5603875"/>
            <a:ext cx="5845823" cy="241598"/>
          </a:xfrm>
          <a:prstGeom prst="rect">
            <a:avLst/>
          </a:prstGeom>
          <a:noFill/>
          <a:ln/>
        </p:spPr>
        <p:txBody>
          <a:bodyPr wrap="none" lIns="0" tIns="64975" rIns="0" bIns="0" rtlCol="0" anchor="t"/>
          <a:lstStyle/>
          <a:p>
            <a:pPr marL="254000" indent="-254000" algn="l">
              <a:lnSpc>
                <a:spcPct val="124000"/>
              </a:lnSpc>
              <a:buSzPct val="100000"/>
              <a:buChar char="•"/>
            </a:pPr>
            <a:r>
              <a:rPr lang="en-US" sz="125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sánh độ chính xác </a:t>
            </a:r>
            <a:r>
              <a:rPr lang="en-US" sz="125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RMSE</a:t>
            </a:r>
            <a:r>
              <a:rPr lang="en-US" sz="125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25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MAE</a:t>
            </a:r>
            <a:r>
              <a:rPr lang="en-US" sz="125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25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R²</a:t>
            </a:r>
            <a:r>
              <a:rPr lang="en-US" sz="125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giữa 4 mô hình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661475" y="6051252"/>
            <a:ext cx="11478330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kern="0" spc="-26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💡</a:t>
            </a:r>
            <a:r>
              <a:rPr lang="en-US" sz="125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Insight:</a:t>
            </a:r>
            <a:r>
              <a:rPr lang="en-US" sz="125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ưu tiên mô hình có </a:t>
            </a:r>
            <a:r>
              <a:rPr lang="en-US" sz="125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RMSE</a:t>
            </a:r>
            <a:r>
              <a:rPr lang="en-US" sz="125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thấp và </a:t>
            </a:r>
            <a:r>
              <a:rPr lang="en-US" sz="1250" b="1" kern="0" spc="-2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R²</a:t>
            </a:r>
            <a:r>
              <a:rPr lang="en-US" sz="1250" kern="0" spc="-26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cao nhất để đảm bảo dự đoán ổn định.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81521"/>
            <a:ext cx="10868745" cy="3396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100" b="1" kern="0" spc="-6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16. Phân cụm thị trường (K-Means)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5785995" y="1116409"/>
            <a:ext cx="619705" cy="206276"/>
          </a:xfrm>
          <a:prstGeom prst="roundRect">
            <a:avLst>
              <a:gd name="adj" fmla="val 22130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867452" y="1157089"/>
            <a:ext cx="1066376" cy="1249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KẾT QUẢ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61475" y="1466453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1475" y="1717080"/>
            <a:ext cx="4372659" cy="37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</a:t>
            </a:r>
            <a:r>
              <a:rPr lang="en-US" sz="105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Khảo sát số cụm k</a:t>
            </a: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từ 2 đến 10, chọn </a:t>
            </a:r>
            <a:r>
              <a:rPr lang="en-US" sz="105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 = 10</a:t>
            </a: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với </a:t>
            </a:r>
            <a:r>
              <a:rPr lang="en-US" sz="105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Silhouette Score 0.38</a:t>
            </a: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61475" y="2234307"/>
            <a:ext cx="4372659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397125"/>
            <a:ext cx="2137515" cy="10251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92550" y="2552005"/>
            <a:ext cx="1751564" cy="2186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kern="0" spc="-4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300" b="1" kern="0" spc="-4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Junior-Mid Hà Nội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92550" y="2868315"/>
            <a:ext cx="1751564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15.1M</a:t>
            </a:r>
            <a:endParaRPr lang="en-US" sz="10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6619" y="2397125"/>
            <a:ext cx="2137515" cy="10251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127694" y="2552005"/>
            <a:ext cx="1751564" cy="4310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kern="0" spc="-4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300" b="1" kern="0" spc="-4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Mid-Senior TP.HCM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127694" y="3080643"/>
            <a:ext cx="1751564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27.1M</a:t>
            </a:r>
            <a:endParaRPr lang="en-US" sz="105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3519884"/>
            <a:ext cx="2137515" cy="8128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92550" y="3674765"/>
            <a:ext cx="1751564" cy="2186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kern="0" spc="-4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300" b="1" kern="0" spc="-4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Senior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92550" y="3991074"/>
            <a:ext cx="1751564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41.9M</a:t>
            </a:r>
            <a:endParaRPr lang="en-US" sz="10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6619" y="3519884"/>
            <a:ext cx="2137515" cy="8128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3127694" y="3674765"/>
            <a:ext cx="1751564" cy="2186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kern="0" spc="-4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300" b="1" kern="0" spc="-4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Mid đa dạng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3127694" y="3991074"/>
            <a:ext cx="1751564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20.8M</a:t>
            </a:r>
            <a:endParaRPr lang="en-US" sz="105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430316"/>
            <a:ext cx="2137515" cy="8128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892550" y="4585196"/>
            <a:ext cx="1751564" cy="2186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kern="0" spc="-4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300" b="1" kern="0" spc="-4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Remote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892550" y="4901505"/>
            <a:ext cx="1751564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31.6M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661475" y="5386884"/>
            <a:ext cx="4372659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17"/>
          <p:cNvSpPr/>
          <p:nvPr/>
        </p:nvSpPr>
        <p:spPr>
          <a:xfrm>
            <a:off x="661475" y="5549702"/>
            <a:ext cx="4372659" cy="616942"/>
          </a:xfrm>
          <a:prstGeom prst="roundRect">
            <a:avLst>
              <a:gd name="adj" fmla="val 9249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02" y="5702102"/>
            <a:ext cx="169759" cy="13583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102888" y="5671443"/>
            <a:ext cx="3795419" cy="37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💡 </a:t>
            </a:r>
            <a:r>
              <a:rPr lang="en-US" sz="1050" b="1" kern="0" spc="-2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Insight:</a:t>
            </a:r>
            <a:r>
              <a:rPr lang="en-US" sz="1050" kern="0" spc="-2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các cụm lương cao tập trung ở nhóm Senior và Remote, trong khi Junior-Mid chiếm tỷ trọng lớn nhất.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5371866" y="1739106"/>
            <a:ext cx="6164604" cy="2130227"/>
          </a:xfrm>
          <a:prstGeom prst="roundRect">
            <a:avLst>
              <a:gd name="adj" fmla="val 2679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5371866" y="2251869"/>
            <a:ext cx="6164604" cy="849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1"/>
          <p:cNvSpPr/>
          <p:nvPr/>
        </p:nvSpPr>
        <p:spPr>
          <a:xfrm>
            <a:off x="5371866" y="2574727"/>
            <a:ext cx="6164604" cy="849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2"/>
          <p:cNvSpPr/>
          <p:nvPr/>
        </p:nvSpPr>
        <p:spPr>
          <a:xfrm>
            <a:off x="5371866" y="2897584"/>
            <a:ext cx="6164604" cy="849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3"/>
          <p:cNvSpPr/>
          <p:nvPr/>
        </p:nvSpPr>
        <p:spPr>
          <a:xfrm>
            <a:off x="5371866" y="3220442"/>
            <a:ext cx="6164604" cy="849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4"/>
          <p:cNvSpPr/>
          <p:nvPr/>
        </p:nvSpPr>
        <p:spPr>
          <a:xfrm>
            <a:off x="5371866" y="3543300"/>
            <a:ext cx="6164604" cy="849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5"/>
          <p:cNvSpPr/>
          <p:nvPr/>
        </p:nvSpPr>
        <p:spPr>
          <a:xfrm>
            <a:off x="6239810" y="1739106"/>
            <a:ext cx="8491" cy="213022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26"/>
          <p:cNvSpPr/>
          <p:nvPr/>
        </p:nvSpPr>
        <p:spPr>
          <a:xfrm>
            <a:off x="7101008" y="1739106"/>
            <a:ext cx="8491" cy="213022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7"/>
          <p:cNvSpPr/>
          <p:nvPr/>
        </p:nvSpPr>
        <p:spPr>
          <a:xfrm>
            <a:off x="8208261" y="1739106"/>
            <a:ext cx="8491" cy="213022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28"/>
          <p:cNvSpPr/>
          <p:nvPr/>
        </p:nvSpPr>
        <p:spPr>
          <a:xfrm>
            <a:off x="9315515" y="1739106"/>
            <a:ext cx="8491" cy="2130227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29"/>
          <p:cNvSpPr/>
          <p:nvPr/>
        </p:nvSpPr>
        <p:spPr>
          <a:xfrm>
            <a:off x="5378613" y="1745456"/>
            <a:ext cx="861197" cy="506413"/>
          </a:xfrm>
          <a:custGeom>
            <a:avLst/>
            <a:gdLst/>
            <a:ahLst/>
            <a:cxnLst/>
            <a:rect l="l" t="t" r="r" b="b"/>
            <a:pathLst>
              <a:path w="861197" h="506413">
                <a:moveTo>
                  <a:pt x="47550" y="0"/>
                </a:moveTo>
                <a:lnTo>
                  <a:pt x="861197" y="0"/>
                </a:lnTo>
                <a:lnTo>
                  <a:pt x="861197" y="506413"/>
                </a:lnTo>
                <a:lnTo>
                  <a:pt x="0" y="506413"/>
                </a:lnTo>
                <a:lnTo>
                  <a:pt x="0" y="47551"/>
                </a:lnTo>
                <a:arcTo wR="47550" hR="47551" stAng="10800000" swAng="5400000"/>
                <a:close/>
              </a:path>
            </a:pathLst>
          </a:cu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0"/>
          <p:cNvSpPr/>
          <p:nvPr/>
        </p:nvSpPr>
        <p:spPr>
          <a:xfrm>
            <a:off x="5514440" y="1810345"/>
            <a:ext cx="1195953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Cluster</a:t>
            </a:r>
            <a:endParaRPr lang="en-US" sz="1050" dirty="0"/>
          </a:p>
        </p:txBody>
      </p:sp>
      <p:sp>
        <p:nvSpPr>
          <p:cNvPr id="39" name="Shape 31"/>
          <p:cNvSpPr/>
          <p:nvPr/>
        </p:nvSpPr>
        <p:spPr>
          <a:xfrm>
            <a:off x="6239810" y="1745456"/>
            <a:ext cx="861197" cy="506413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2"/>
          <p:cNvSpPr/>
          <p:nvPr/>
        </p:nvSpPr>
        <p:spPr>
          <a:xfrm>
            <a:off x="6378812" y="1810345"/>
            <a:ext cx="1192778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Tỷ lệ</a:t>
            </a:r>
            <a:endParaRPr lang="en-US" sz="1050" dirty="0"/>
          </a:p>
        </p:txBody>
      </p:sp>
      <p:sp>
        <p:nvSpPr>
          <p:cNvPr id="41" name="Shape 33"/>
          <p:cNvSpPr/>
          <p:nvPr/>
        </p:nvSpPr>
        <p:spPr>
          <a:xfrm>
            <a:off x="7101008" y="1745456"/>
            <a:ext cx="1107254" cy="506413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4"/>
          <p:cNvSpPr/>
          <p:nvPr/>
        </p:nvSpPr>
        <p:spPr>
          <a:xfrm>
            <a:off x="7240010" y="1810345"/>
            <a:ext cx="1438834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Lương TB</a:t>
            </a:r>
            <a:endParaRPr lang="en-US" sz="1050" dirty="0"/>
          </a:p>
        </p:txBody>
      </p:sp>
      <p:sp>
        <p:nvSpPr>
          <p:cNvPr id="43" name="Shape 35"/>
          <p:cNvSpPr/>
          <p:nvPr/>
        </p:nvSpPr>
        <p:spPr>
          <a:xfrm>
            <a:off x="8208261" y="1745456"/>
            <a:ext cx="1107254" cy="506413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6"/>
          <p:cNvSpPr/>
          <p:nvPr/>
        </p:nvSpPr>
        <p:spPr>
          <a:xfrm>
            <a:off x="8347263" y="1810345"/>
            <a:ext cx="829250" cy="37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Kinh nghiệm TB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9315515" y="1745456"/>
            <a:ext cx="2214606" cy="506413"/>
          </a:xfrm>
          <a:custGeom>
            <a:avLst/>
            <a:gdLst/>
            <a:ahLst/>
            <a:cxnLst/>
            <a:rect l="l" t="t" r="r" b="b"/>
            <a:pathLst>
              <a:path w="2214606" h="506413">
                <a:moveTo>
                  <a:pt x="0" y="0"/>
                </a:moveTo>
                <a:lnTo>
                  <a:pt x="2167056" y="0"/>
                </a:lnTo>
                <a:arcTo wR="47550" hR="47551" stAng="16200000" swAng="5400000"/>
                <a:lnTo>
                  <a:pt x="2214606" y="506413"/>
                </a:lnTo>
                <a:lnTo>
                  <a:pt x="0" y="506413"/>
                </a:lnTo>
                <a:lnTo>
                  <a:pt x="0" y="0"/>
                </a:lnTo>
                <a:close/>
              </a:path>
            </a:pathLst>
          </a:cu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38"/>
          <p:cNvSpPr/>
          <p:nvPr/>
        </p:nvSpPr>
        <p:spPr>
          <a:xfrm>
            <a:off x="9454517" y="1810345"/>
            <a:ext cx="2549362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Đặc điểm</a:t>
            </a:r>
            <a:endParaRPr lang="en-US" sz="1050" dirty="0"/>
          </a:p>
        </p:txBody>
      </p:sp>
      <p:sp>
        <p:nvSpPr>
          <p:cNvPr id="47" name="Text 39"/>
          <p:cNvSpPr/>
          <p:nvPr/>
        </p:nvSpPr>
        <p:spPr>
          <a:xfrm>
            <a:off x="5514440" y="2319933"/>
            <a:ext cx="1195953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050" dirty="0"/>
          </a:p>
        </p:txBody>
      </p:sp>
      <p:sp>
        <p:nvSpPr>
          <p:cNvPr id="48" name="Text 40"/>
          <p:cNvSpPr/>
          <p:nvPr/>
        </p:nvSpPr>
        <p:spPr>
          <a:xfrm>
            <a:off x="6378812" y="2319933"/>
            <a:ext cx="1192778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21%</a:t>
            </a:r>
            <a:endParaRPr lang="en-US" sz="1050" dirty="0"/>
          </a:p>
        </p:txBody>
      </p:sp>
      <p:sp>
        <p:nvSpPr>
          <p:cNvPr id="49" name="Text 41"/>
          <p:cNvSpPr/>
          <p:nvPr/>
        </p:nvSpPr>
        <p:spPr>
          <a:xfrm>
            <a:off x="7240010" y="2319933"/>
            <a:ext cx="1438834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15.1M</a:t>
            </a:r>
            <a:endParaRPr lang="en-US" sz="1050" dirty="0"/>
          </a:p>
        </p:txBody>
      </p:sp>
      <p:sp>
        <p:nvSpPr>
          <p:cNvPr id="50" name="Text 42"/>
          <p:cNvSpPr/>
          <p:nvPr/>
        </p:nvSpPr>
        <p:spPr>
          <a:xfrm>
            <a:off x="8347263" y="2319933"/>
            <a:ext cx="1438834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2.6y</a:t>
            </a:r>
            <a:endParaRPr lang="en-US" sz="1050" dirty="0"/>
          </a:p>
        </p:txBody>
      </p:sp>
      <p:sp>
        <p:nvSpPr>
          <p:cNvPr id="51" name="Text 43"/>
          <p:cNvSpPr/>
          <p:nvPr/>
        </p:nvSpPr>
        <p:spPr>
          <a:xfrm>
            <a:off x="9454517" y="2319933"/>
            <a:ext cx="2549362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Junior-Mid, Hà Nội</a:t>
            </a:r>
            <a:endParaRPr lang="en-US" sz="1050" dirty="0"/>
          </a:p>
        </p:txBody>
      </p:sp>
      <p:sp>
        <p:nvSpPr>
          <p:cNvPr id="52" name="Text 44"/>
          <p:cNvSpPr/>
          <p:nvPr/>
        </p:nvSpPr>
        <p:spPr>
          <a:xfrm>
            <a:off x="5514440" y="2642791"/>
            <a:ext cx="1195953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50" dirty="0"/>
          </a:p>
        </p:txBody>
      </p:sp>
      <p:sp>
        <p:nvSpPr>
          <p:cNvPr id="53" name="Text 45"/>
          <p:cNvSpPr/>
          <p:nvPr/>
        </p:nvSpPr>
        <p:spPr>
          <a:xfrm>
            <a:off x="6378812" y="2642791"/>
            <a:ext cx="1192778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14%</a:t>
            </a:r>
            <a:endParaRPr lang="en-US" sz="1050" dirty="0"/>
          </a:p>
        </p:txBody>
      </p:sp>
      <p:sp>
        <p:nvSpPr>
          <p:cNvPr id="54" name="Text 46"/>
          <p:cNvSpPr/>
          <p:nvPr/>
        </p:nvSpPr>
        <p:spPr>
          <a:xfrm>
            <a:off x="7240010" y="2642791"/>
            <a:ext cx="1438834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27.1M</a:t>
            </a:r>
            <a:endParaRPr lang="en-US" sz="1050" dirty="0"/>
          </a:p>
        </p:txBody>
      </p:sp>
      <p:sp>
        <p:nvSpPr>
          <p:cNvPr id="55" name="Text 47"/>
          <p:cNvSpPr/>
          <p:nvPr/>
        </p:nvSpPr>
        <p:spPr>
          <a:xfrm>
            <a:off x="8347263" y="2642791"/>
            <a:ext cx="1438834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2.6y</a:t>
            </a:r>
            <a:endParaRPr lang="en-US" sz="1050" dirty="0"/>
          </a:p>
        </p:txBody>
      </p:sp>
      <p:sp>
        <p:nvSpPr>
          <p:cNvPr id="56" name="Text 48"/>
          <p:cNvSpPr/>
          <p:nvPr/>
        </p:nvSpPr>
        <p:spPr>
          <a:xfrm>
            <a:off x="9454517" y="2642791"/>
            <a:ext cx="2549362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Mid-Senior, TP.HCM</a:t>
            </a:r>
            <a:endParaRPr lang="en-US" sz="1050" dirty="0"/>
          </a:p>
        </p:txBody>
      </p:sp>
      <p:sp>
        <p:nvSpPr>
          <p:cNvPr id="57" name="Text 49"/>
          <p:cNvSpPr/>
          <p:nvPr/>
        </p:nvSpPr>
        <p:spPr>
          <a:xfrm>
            <a:off x="5514440" y="2965648"/>
            <a:ext cx="1195953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50" dirty="0"/>
          </a:p>
        </p:txBody>
      </p:sp>
      <p:sp>
        <p:nvSpPr>
          <p:cNvPr id="58" name="Text 50"/>
          <p:cNvSpPr/>
          <p:nvPr/>
        </p:nvSpPr>
        <p:spPr>
          <a:xfrm>
            <a:off x="6378812" y="2965648"/>
            <a:ext cx="1192778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endParaRPr lang="en-US" sz="1050" dirty="0"/>
          </a:p>
        </p:txBody>
      </p:sp>
      <p:sp>
        <p:nvSpPr>
          <p:cNvPr id="59" name="Text 51"/>
          <p:cNvSpPr/>
          <p:nvPr/>
        </p:nvSpPr>
        <p:spPr>
          <a:xfrm>
            <a:off x="7240010" y="2965648"/>
            <a:ext cx="1438834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41.9M</a:t>
            </a:r>
            <a:endParaRPr lang="en-US" sz="1050" dirty="0"/>
          </a:p>
        </p:txBody>
      </p:sp>
      <p:sp>
        <p:nvSpPr>
          <p:cNvPr id="60" name="Text 52"/>
          <p:cNvSpPr/>
          <p:nvPr/>
        </p:nvSpPr>
        <p:spPr>
          <a:xfrm>
            <a:off x="8347263" y="2965648"/>
            <a:ext cx="1438834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4.8y</a:t>
            </a:r>
            <a:endParaRPr lang="en-US" sz="1050" dirty="0"/>
          </a:p>
        </p:txBody>
      </p:sp>
      <p:sp>
        <p:nvSpPr>
          <p:cNvPr id="61" name="Text 53"/>
          <p:cNvSpPr/>
          <p:nvPr/>
        </p:nvSpPr>
        <p:spPr>
          <a:xfrm>
            <a:off x="9454517" y="2965648"/>
            <a:ext cx="2549362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Senior, thu nhập cao</a:t>
            </a:r>
            <a:endParaRPr lang="en-US" sz="1050" dirty="0"/>
          </a:p>
        </p:txBody>
      </p:sp>
      <p:sp>
        <p:nvSpPr>
          <p:cNvPr id="62" name="Text 54"/>
          <p:cNvSpPr/>
          <p:nvPr/>
        </p:nvSpPr>
        <p:spPr>
          <a:xfrm>
            <a:off x="5514440" y="3288506"/>
            <a:ext cx="1195953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050" dirty="0"/>
          </a:p>
        </p:txBody>
      </p:sp>
      <p:sp>
        <p:nvSpPr>
          <p:cNvPr id="63" name="Text 55"/>
          <p:cNvSpPr/>
          <p:nvPr/>
        </p:nvSpPr>
        <p:spPr>
          <a:xfrm>
            <a:off x="6378812" y="3288506"/>
            <a:ext cx="1192778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21%</a:t>
            </a:r>
            <a:endParaRPr lang="en-US" sz="1050" dirty="0"/>
          </a:p>
        </p:txBody>
      </p:sp>
      <p:sp>
        <p:nvSpPr>
          <p:cNvPr id="64" name="Text 56"/>
          <p:cNvSpPr/>
          <p:nvPr/>
        </p:nvSpPr>
        <p:spPr>
          <a:xfrm>
            <a:off x="7240010" y="3288506"/>
            <a:ext cx="1438834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20.8M</a:t>
            </a:r>
            <a:endParaRPr lang="en-US" sz="1050" dirty="0"/>
          </a:p>
        </p:txBody>
      </p:sp>
      <p:sp>
        <p:nvSpPr>
          <p:cNvPr id="65" name="Text 57"/>
          <p:cNvSpPr/>
          <p:nvPr/>
        </p:nvSpPr>
        <p:spPr>
          <a:xfrm>
            <a:off x="8347263" y="3288506"/>
            <a:ext cx="1438834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2.1y</a:t>
            </a:r>
            <a:endParaRPr lang="en-US" sz="1050" dirty="0"/>
          </a:p>
        </p:txBody>
      </p:sp>
      <p:sp>
        <p:nvSpPr>
          <p:cNvPr id="66" name="Text 58"/>
          <p:cNvSpPr/>
          <p:nvPr/>
        </p:nvSpPr>
        <p:spPr>
          <a:xfrm>
            <a:off x="9454517" y="3288506"/>
            <a:ext cx="2549362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Mid, đa dạng</a:t>
            </a:r>
            <a:endParaRPr lang="en-US" sz="1050" dirty="0"/>
          </a:p>
        </p:txBody>
      </p:sp>
      <p:sp>
        <p:nvSpPr>
          <p:cNvPr id="67" name="Text 59"/>
          <p:cNvSpPr/>
          <p:nvPr/>
        </p:nvSpPr>
        <p:spPr>
          <a:xfrm>
            <a:off x="5514440" y="3611364"/>
            <a:ext cx="1195953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050" dirty="0"/>
          </a:p>
        </p:txBody>
      </p:sp>
      <p:sp>
        <p:nvSpPr>
          <p:cNvPr id="68" name="Text 60"/>
          <p:cNvSpPr/>
          <p:nvPr/>
        </p:nvSpPr>
        <p:spPr>
          <a:xfrm>
            <a:off x="6378812" y="3611364"/>
            <a:ext cx="1192778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4%</a:t>
            </a:r>
            <a:endParaRPr lang="en-US" sz="1050" dirty="0"/>
          </a:p>
        </p:txBody>
      </p:sp>
      <p:sp>
        <p:nvSpPr>
          <p:cNvPr id="69" name="Text 61"/>
          <p:cNvSpPr/>
          <p:nvPr/>
        </p:nvSpPr>
        <p:spPr>
          <a:xfrm>
            <a:off x="7240010" y="3611364"/>
            <a:ext cx="1438834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kern="0" spc="-2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31.6M</a:t>
            </a:r>
            <a:endParaRPr lang="en-US" sz="1050" dirty="0"/>
          </a:p>
        </p:txBody>
      </p:sp>
      <p:sp>
        <p:nvSpPr>
          <p:cNvPr id="70" name="Text 62"/>
          <p:cNvSpPr/>
          <p:nvPr/>
        </p:nvSpPr>
        <p:spPr>
          <a:xfrm>
            <a:off x="8347263" y="3611364"/>
            <a:ext cx="1438834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2.7y</a:t>
            </a:r>
            <a:endParaRPr lang="en-US" sz="1050" dirty="0"/>
          </a:p>
        </p:txBody>
      </p:sp>
      <p:sp>
        <p:nvSpPr>
          <p:cNvPr id="71" name="Text 63"/>
          <p:cNvSpPr/>
          <p:nvPr/>
        </p:nvSpPr>
        <p:spPr>
          <a:xfrm>
            <a:off x="9454517" y="3611364"/>
            <a:ext cx="2549362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Việc làm Remote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4753"/>
            <a:ext cx="10868745" cy="3765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350" b="1" kern="0" spc="-7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17. K-Means — Chart phân cụm</a:t>
            </a:r>
            <a:endParaRPr lang="en-US" sz="2350" dirty="0"/>
          </a:p>
        </p:txBody>
      </p:sp>
      <p:sp>
        <p:nvSpPr>
          <p:cNvPr id="3" name="Shape 1"/>
          <p:cNvSpPr/>
          <p:nvPr/>
        </p:nvSpPr>
        <p:spPr>
          <a:xfrm>
            <a:off x="5752361" y="1181298"/>
            <a:ext cx="686973" cy="228898"/>
          </a:xfrm>
          <a:prstGeom prst="roundRect">
            <a:avLst>
              <a:gd name="adj" fmla="val 22110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842648" y="1226443"/>
            <a:ext cx="1115985" cy="1386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KẾT QUẢ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61475" y="1582737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09266"/>
            <a:ext cx="4669316" cy="2291953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6496" y="1909266"/>
            <a:ext cx="4669316" cy="309185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836496" y="5136059"/>
            <a:ext cx="5700074" cy="235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kern="0" spc="-44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450" b="1" kern="0" spc="-4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Silhouette Score khi khảo sát số cụm k từ 2 đến 10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5836496" y="5419328"/>
            <a:ext cx="5700074" cy="235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kern="0" spc="-44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🤖</a:t>
            </a:r>
            <a:r>
              <a:rPr lang="en-US" sz="1450" b="1" kern="0" spc="-4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10 cụm thị trường nhìn trên không gian 2 chiều sau PCA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5836496" y="5702598"/>
            <a:ext cx="5700074" cy="4706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kern="0" spc="-44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💡</a:t>
            </a:r>
            <a:r>
              <a:rPr lang="en-US" sz="1450" b="1" kern="0" spc="-4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Insight: mô hình cho thấy cấu trúc phân cụm rõ ràng hơn khi tăng số cụm lên 10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1515"/>
            <a:ext cx="10868745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400" b="1" kern="0" spc="-7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18. SHAP — Giải thích mô hình Linear Regression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745813" y="1165027"/>
            <a:ext cx="700070" cy="233263"/>
          </a:xfrm>
          <a:prstGeom prst="roundRect">
            <a:avLst>
              <a:gd name="adj" fmla="val 22122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837885" y="1211064"/>
            <a:ext cx="1125509" cy="141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5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KẾT QUẢ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61475" y="1576884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1475" y="1899245"/>
            <a:ext cx="5247052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kern="0" spc="-45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🤖</a:t>
            </a:r>
            <a:r>
              <a:rPr lang="en-US" sz="1500" b="1" kern="0" spc="-45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LinearExplainer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1475" y="2263874"/>
            <a:ext cx="5247052" cy="445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LinearExplainer tính SHAP bằng hệ số nhân giá trị đặc trưng — quan hệ 1:1, dễ đọc trên </a:t>
            </a:r>
            <a:r>
              <a:rPr lang="en-US" sz="1200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105 tin kiểm thử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61475" y="2833886"/>
            <a:ext cx="5247052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kern="0" spc="-45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500" b="1" kern="0" spc="-45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Độ lớn SHAP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1475" y="3198515"/>
            <a:ext cx="5247052" cy="445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Độ lớn SHAP là đóng góp tuyệt đối vào lương (</a:t>
            </a:r>
            <a:r>
              <a:rPr lang="en-US" sz="1200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triệu VND</a:t>
            </a: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), giúp so sánh trực tiếp độ quan trọng giữa các đặc trưng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1475" y="3768527"/>
            <a:ext cx="5247052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kern="0" spc="-45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💡</a:t>
            </a:r>
            <a:r>
              <a:rPr lang="en-US" sz="1500" b="1" kern="0" spc="-45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Insight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1475" y="4133155"/>
            <a:ext cx="5247052" cy="445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Các đặc trưng quan trọng nhất khớp với Decision Tree — kết quả ổn định giữa 2 mô hình</a:t>
            </a:r>
            <a:endParaRPr lang="en-US" sz="12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518" y="1914823"/>
            <a:ext cx="3493802" cy="427126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6199"/>
            <a:ext cx="10868745" cy="391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450" b="1" kern="0" spc="-7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19. Hệ thống gợi ý việc làm (Content-based)</a:t>
            </a:r>
            <a:endParaRPr lang="en-US" sz="2450" dirty="0"/>
          </a:p>
        </p:txBody>
      </p:sp>
      <p:sp>
        <p:nvSpPr>
          <p:cNvPr id="3" name="Shape 1"/>
          <p:cNvSpPr/>
          <p:nvPr/>
        </p:nvSpPr>
        <p:spPr>
          <a:xfrm>
            <a:off x="5738768" y="1196677"/>
            <a:ext cx="714159" cy="237827"/>
          </a:xfrm>
          <a:prstGeom prst="roundRect">
            <a:avLst>
              <a:gd name="adj" fmla="val 22115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832627" y="1243608"/>
            <a:ext cx="1136026" cy="143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50" kern="0" spc="-2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KẾT QUẢ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61475" y="1619349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1475" y="1952823"/>
            <a:ext cx="6143471" cy="2509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kern="0" spc="-4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500" b="1" kern="0" spc="-4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Bảng kết quả gợi ý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61475" y="2349500"/>
            <a:ext cx="6143471" cy="2306340"/>
          </a:xfrm>
          <a:prstGeom prst="roundRect">
            <a:avLst>
              <a:gd name="adj" fmla="val 2851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61475" y="2984897"/>
            <a:ext cx="6143471" cy="9783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61475" y="3617119"/>
            <a:ext cx="6143471" cy="9783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1475" y="4249341"/>
            <a:ext cx="6143471" cy="9783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261932" y="2349500"/>
            <a:ext cx="9783" cy="2306340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42785" y="2349500"/>
            <a:ext cx="9783" cy="2306340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327219" y="2349500"/>
            <a:ext cx="9783" cy="2306340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4487" y="2439888"/>
            <a:ext cx="1887391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b="1" kern="0" spc="-2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Việc làm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21571" y="2439888"/>
            <a:ext cx="661574" cy="4577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b="1" kern="0" spc="-2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Similarity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02423" y="2439888"/>
            <a:ext cx="2374741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b="1" kern="0" spc="-2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Kỹ năng khớp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858" y="2439888"/>
            <a:ext cx="176485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b="1" kern="0" spc="-2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Kỹ năng thiếu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4487" y="3072110"/>
            <a:ext cx="1887391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b="1" kern="0" spc="-2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Scientist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21571" y="3072110"/>
            <a:ext cx="127115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b="1" kern="0" spc="-2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1.0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02423" y="3072110"/>
            <a:ext cx="1765157" cy="4577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kern="0" spc="-2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Python, SQL, Machine Learning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858" y="3072110"/>
            <a:ext cx="176485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kern="0" spc="-2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4487" y="3704332"/>
            <a:ext cx="1887391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b="1" kern="0" spc="-2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ML Engineer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1571" y="3704332"/>
            <a:ext cx="127115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b="1" kern="0" spc="-2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0.67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02423" y="3704332"/>
            <a:ext cx="1765157" cy="4577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kern="0" spc="-2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Python, Machine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858" y="3704332"/>
            <a:ext cx="176485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kern="0" spc="-2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Docker, Spark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4487" y="4336554"/>
            <a:ext cx="1887391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b="1" kern="0" spc="-2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Engineer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421571" y="4336554"/>
            <a:ext cx="127115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b="1" kern="0" spc="-2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0.67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02423" y="4336554"/>
            <a:ext cx="2374741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kern="0" spc="-2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Python, SQL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858" y="4336554"/>
            <a:ext cx="176485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kern="0" spc="-2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Spark, Airflow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193080" y="1952823"/>
            <a:ext cx="4343391" cy="4954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kern="0" spc="-4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🤖</a:t>
            </a:r>
            <a:r>
              <a:rPr lang="en-US" sz="1500" b="1" kern="0" spc="-4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Demo hồ sơ: [Python, SQL, Machine Learning]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193080" y="2633166"/>
            <a:ext cx="4343391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3080" y="2837061"/>
            <a:ext cx="4343391" cy="2173883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7212642" y="3771592"/>
            <a:ext cx="815727" cy="244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7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Cần kỹ năng cơ bản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8877590" y="4825854"/>
            <a:ext cx="976270" cy="1220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7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Khớp thấp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10696842" y="3771592"/>
            <a:ext cx="815728" cy="244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7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Cần kỹ năng chuyên sâu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8875149" y="2926283"/>
            <a:ext cx="976270" cy="1220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750" b="1" kern="0" spc="-23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Khớp cao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8410200" y="4351131"/>
            <a:ext cx="837423" cy="1784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600" kern="0" spc="-1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Engineer — Tương đồng 0.67</a:t>
            </a:r>
            <a:endParaRPr lang="en-US" sz="600" dirty="0"/>
          </a:p>
        </p:txBody>
      </p:sp>
      <p:sp>
        <p:nvSpPr>
          <p:cNvPr id="38" name="Text 35"/>
          <p:cNvSpPr/>
          <p:nvPr/>
        </p:nvSpPr>
        <p:spPr>
          <a:xfrm>
            <a:off x="9560030" y="4355471"/>
            <a:ext cx="837423" cy="1784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600" kern="0" spc="-1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Không khớp — Cần kỹ năng bổ sung</a:t>
            </a:r>
            <a:endParaRPr lang="en-US" sz="600" dirty="0"/>
          </a:p>
        </p:txBody>
      </p:sp>
      <p:sp>
        <p:nvSpPr>
          <p:cNvPr id="39" name="Text 36"/>
          <p:cNvSpPr/>
          <p:nvPr/>
        </p:nvSpPr>
        <p:spPr>
          <a:xfrm>
            <a:off x="9560030" y="3552739"/>
            <a:ext cx="837423" cy="1784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600" kern="0" spc="-1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Engineer — Tương đồng 0.67</a:t>
            </a:r>
            <a:endParaRPr lang="en-US" sz="600" dirty="0"/>
          </a:p>
        </p:txBody>
      </p:sp>
      <p:sp>
        <p:nvSpPr>
          <p:cNvPr id="40" name="Text 37"/>
          <p:cNvSpPr/>
          <p:nvPr/>
        </p:nvSpPr>
        <p:spPr>
          <a:xfrm>
            <a:off x="8384166" y="3552739"/>
            <a:ext cx="837423" cy="1784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600" kern="0" spc="-1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Scientist — Tương đồng 1.0</a:t>
            </a:r>
            <a:endParaRPr lang="en-US" sz="600" dirty="0"/>
          </a:p>
        </p:txBody>
      </p:sp>
      <p:sp>
        <p:nvSpPr>
          <p:cNvPr id="41" name="Text 38"/>
          <p:cNvSpPr/>
          <p:nvPr/>
        </p:nvSpPr>
        <p:spPr>
          <a:xfrm>
            <a:off x="7193080" y="5156696"/>
            <a:ext cx="4343391" cy="1038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spcAft>
                <a:spcPts val="900"/>
              </a:spcAft>
              <a:buNone/>
            </a:pPr>
            <a:r>
              <a:rPr lang="en-US" sz="1200" kern="0" spc="-25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💡</a:t>
            </a:r>
            <a:r>
              <a:rPr lang="en-US" sz="1200" kern="0" spc="-2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00" b="1" kern="0" spc="-2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Insight:</a:t>
            </a:r>
            <a:r>
              <a:rPr lang="en-US" sz="1200" kern="0" spc="-2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Kỹ năng được mã hóa thành ma trận </a:t>
            </a:r>
            <a:r>
              <a:rPr lang="en-US" sz="1200" b="1" kern="0" spc="-2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1500 việc × 45 kỹ năng</a:t>
            </a:r>
            <a:r>
              <a:rPr lang="en-US" sz="1200" kern="0" spc="-2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1200" kern="0" spc="-2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Hệ thống lọc theo </a:t>
            </a:r>
            <a:r>
              <a:rPr lang="en-US" sz="1200" b="1" kern="0" spc="-2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thành phố</a:t>
            </a:r>
            <a:r>
              <a:rPr lang="en-US" sz="1200" kern="0" spc="-2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và </a:t>
            </a:r>
            <a:r>
              <a:rPr lang="en-US" sz="1200" b="1" kern="0" spc="-2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kinh nghiệm ±0.5 năm</a:t>
            </a:r>
            <a:r>
              <a:rPr lang="en-US" sz="1200" kern="0" spc="-2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trước khi tính cosine để giảm nhiễu.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83023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20. Gợi ý — Chart similarity</a:t>
            </a:r>
            <a:endParaRPr lang="en-US" sz="2950" dirty="0"/>
          </a:p>
        </p:txBody>
      </p:sp>
      <p:sp>
        <p:nvSpPr>
          <p:cNvPr id="3" name="Shape 1"/>
          <p:cNvSpPr/>
          <p:nvPr/>
        </p:nvSpPr>
        <p:spPr>
          <a:xfrm>
            <a:off x="5624769" y="2333526"/>
            <a:ext cx="942058" cy="287139"/>
          </a:xfrm>
          <a:prstGeom prst="roundRect">
            <a:avLst>
              <a:gd name="adj" fmla="val 22118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738173" y="2390180"/>
            <a:ext cx="1324835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KẾT LUẬN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61475" y="2880519"/>
            <a:ext cx="10868745" cy="2540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1475" y="3354784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Điểm tương đồng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661475" y="3839071"/>
            <a:ext cx="581337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Giữa hồ sơ demo và các việc trong kho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61475" y="4311551"/>
            <a:ext cx="5203794" cy="670917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Ưu tiên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hiển thị các việc có similarity cao nhất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Giúp người dùng nhanh chóng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so sánh mức độ phù hợp</a:t>
            </a:r>
            <a:endParaRPr lang="en-US" sz="145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776" y="3378398"/>
            <a:ext cx="5203794" cy="178385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346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150" b="1" kern="0" spc="-6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21. Kết luận</a:t>
            </a:r>
            <a:endParaRPr lang="en-US" sz="2150" dirty="0"/>
          </a:p>
        </p:txBody>
      </p:sp>
      <p:sp>
        <p:nvSpPr>
          <p:cNvPr id="3" name="Shape 1"/>
          <p:cNvSpPr/>
          <p:nvPr/>
        </p:nvSpPr>
        <p:spPr>
          <a:xfrm>
            <a:off x="5750079" y="1070570"/>
            <a:ext cx="691537" cy="210741"/>
          </a:xfrm>
          <a:prstGeom prst="roundRect">
            <a:avLst>
              <a:gd name="adj" fmla="val 22132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833321" y="1112143"/>
            <a:ext cx="1134637" cy="127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KẾT LUẬN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61475" y="1430536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1475" y="1700709"/>
            <a:ext cx="6385757" cy="21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350" b="1" kern="0" spc="-4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Pipeline khoa học dữ liệu end-to-end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61475" y="2019498"/>
            <a:ext cx="6995342" cy="192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Hoàn chỉnh, đáp ứng đủ các tiêu chí của học phần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61475" y="2303760"/>
            <a:ext cx="6385757" cy="1281410"/>
          </a:xfrm>
          <a:prstGeom prst="rect">
            <a:avLst/>
          </a:prstGeom>
          <a:noFill/>
          <a:ln/>
        </p:spPr>
        <p:txBody>
          <a:bodyPr wrap="square" lIns="0" tIns="55524" rIns="0" bIns="0" rtlCol="0" anchor="t">
            <a:normAutofit/>
          </a:bodyPr>
          <a:lstStyle/>
          <a:p>
            <a:pPr marL="213360" indent="-213360" algn="l">
              <a:lnSpc>
                <a:spcPct val="116000"/>
              </a:lnSpc>
              <a:buSzPct val="100000"/>
              <a:buChar char="•"/>
            </a:pPr>
            <a:r>
              <a:rPr lang="en-US" sz="1050" b="1" kern="0" spc="-2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Hồi quy:</a:t>
            </a: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RMSE giảm từ </a:t>
            </a:r>
            <a:r>
              <a:rPr lang="en-US" sz="1050" b="1" kern="0" spc="-2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8.97</a:t>
            </a: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(Baseline) xuống </a:t>
            </a:r>
            <a:r>
              <a:rPr lang="en-US" sz="1050" b="1" kern="0" spc="-2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4.17</a:t>
            </a: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(Linear, R² </a:t>
            </a:r>
            <a:r>
              <a:rPr lang="en-US" sz="1050" b="1" kern="0" spc="-2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0.783</a:t>
            </a: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rồi </a:t>
            </a:r>
            <a:r>
              <a:rPr lang="en-US" sz="1050" b="1" kern="0" spc="-2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0.60</a:t>
            </a: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(Decision Tree, R² </a:t>
            </a:r>
            <a:r>
              <a:rPr lang="en-US" sz="1050" b="1" kern="0" spc="-2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0.996</a:t>
            </a: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</a:t>
            </a:r>
            <a:endParaRPr lang="en-US" sz="1050" dirty="0"/>
          </a:p>
          <a:p>
            <a:pPr marL="213360" indent="-213360" algn="l">
              <a:lnSpc>
                <a:spcPct val="116000"/>
              </a:lnSpc>
              <a:buSzPct val="100000"/>
              <a:buChar char="•"/>
            </a:pPr>
            <a:r>
              <a:rPr lang="en-US" sz="1050" kern="0" spc="-22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</a:t>
            </a: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50" b="1" kern="0" spc="-2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SHAP xác nhận</a:t>
            </a: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kinh nghiệm và nhóm kỹ năng là nhân tố chính quyết định lương, nhất quán giữa 2 mô hình</a:t>
            </a:r>
            <a:endParaRPr lang="en-US" sz="1050" dirty="0"/>
          </a:p>
          <a:p>
            <a:pPr marL="213360" indent="-213360" algn="l">
              <a:lnSpc>
                <a:spcPct val="116000"/>
              </a:lnSpc>
              <a:buSzPct val="100000"/>
              <a:buChar char="•"/>
            </a:pPr>
            <a:r>
              <a:rPr lang="en-US" sz="1050" kern="0" spc="-22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📊</a:t>
            </a: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50" b="1" kern="0" spc="-2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K-Means:</a:t>
            </a: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k = </a:t>
            </a:r>
            <a:r>
              <a:rPr lang="en-US" sz="1050" b="1" kern="0" spc="-2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10</a:t>
            </a: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(Silhouette </a:t>
            </a:r>
            <a:r>
              <a:rPr lang="en-US" sz="1050" b="1" kern="0" spc="-2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0.38</a:t>
            </a: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nhận diện </a:t>
            </a:r>
            <a:r>
              <a:rPr lang="en-US" sz="1050" b="1" kern="0" spc="-2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</a:t>
            </a: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phân khúc thị trường rõ rệt</a:t>
            </a:r>
            <a:endParaRPr lang="en-US" sz="1050" dirty="0"/>
          </a:p>
          <a:p>
            <a:pPr marL="213360" indent="-213360" algn="l">
              <a:lnSpc>
                <a:spcPct val="116000"/>
              </a:lnSpc>
              <a:buSzPct val="100000"/>
              <a:buChar char="•"/>
            </a:pPr>
            <a:r>
              <a:rPr lang="en-US" sz="1050" kern="0" spc="-22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💡</a:t>
            </a: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50" b="1" kern="0" spc="-2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Content-based:</a:t>
            </a: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gợi ý </a:t>
            </a:r>
            <a:r>
              <a:rPr lang="en-US" sz="1050" b="1" kern="0" spc="-2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Top-3</a:t>
            </a: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việc phù hợp kèm kỹ năng còn thiếu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61475" y="3734395"/>
            <a:ext cx="6385757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1475" y="3902670"/>
            <a:ext cx="6995342" cy="192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50" b="1" kern="0" spc="-2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Toàn bộ RQ1-RQ5</a:t>
            </a: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được trả lời qua EDA (F1-F4), SHAP và hệ gợi ý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392108" y="1700709"/>
            <a:ext cx="4144363" cy="21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kern="0" spc="-4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350" b="1" kern="0" spc="-4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RMSE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92108" y="1958280"/>
            <a:ext cx="4144363" cy="346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150" b="1" kern="0" spc="-6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0.60</a:t>
            </a:r>
            <a:endParaRPr lang="en-US" sz="2150" dirty="0"/>
          </a:p>
        </p:txBody>
      </p:sp>
      <p:sp>
        <p:nvSpPr>
          <p:cNvPr id="13" name="Text 11"/>
          <p:cNvSpPr/>
          <p:nvPr/>
        </p:nvSpPr>
        <p:spPr>
          <a:xfrm>
            <a:off x="7087316" y="2407146"/>
            <a:ext cx="4753947" cy="192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6000"/>
              </a:lnSpc>
              <a:buNone/>
            </a:pP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Tree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92108" y="2748955"/>
            <a:ext cx="4144363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92108" y="2917230"/>
            <a:ext cx="4144363" cy="21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kern="0" spc="-4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📈</a:t>
            </a:r>
            <a:r>
              <a:rPr lang="en-US" sz="1350" b="1" kern="0" spc="-4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R²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392108" y="3174802"/>
            <a:ext cx="4144363" cy="346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150" b="1" kern="0" spc="-6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0.996</a:t>
            </a:r>
            <a:endParaRPr lang="en-US" sz="2150" dirty="0"/>
          </a:p>
        </p:txBody>
      </p:sp>
      <p:sp>
        <p:nvSpPr>
          <p:cNvPr id="17" name="Text 15"/>
          <p:cNvSpPr/>
          <p:nvPr/>
        </p:nvSpPr>
        <p:spPr>
          <a:xfrm>
            <a:off x="7087316" y="3623667"/>
            <a:ext cx="4753947" cy="192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6000"/>
              </a:lnSpc>
              <a:buNone/>
            </a:pP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Tree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92108" y="3965476"/>
            <a:ext cx="4144363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92108" y="4133751"/>
            <a:ext cx="4144363" cy="21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kern="0" spc="-4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💎</a:t>
            </a:r>
            <a:r>
              <a:rPr lang="en-US" sz="1350" b="1" kern="0" spc="-4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Silhouette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392108" y="4391323"/>
            <a:ext cx="4144363" cy="346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150" b="1" kern="0" spc="-6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0.38</a:t>
            </a:r>
            <a:endParaRPr lang="en-US" sz="2150" dirty="0"/>
          </a:p>
        </p:txBody>
      </p:sp>
      <p:sp>
        <p:nvSpPr>
          <p:cNvPr id="21" name="Text 19"/>
          <p:cNvSpPr/>
          <p:nvPr/>
        </p:nvSpPr>
        <p:spPr>
          <a:xfrm>
            <a:off x="7087316" y="4840188"/>
            <a:ext cx="4753947" cy="192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6000"/>
              </a:lnSpc>
              <a:buNone/>
            </a:pP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k=10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92108" y="5181997"/>
            <a:ext cx="4144363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392108" y="5350272"/>
            <a:ext cx="4144363" cy="21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kern="0" spc="-4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🎖️</a:t>
            </a:r>
            <a:r>
              <a:rPr lang="en-US" sz="1350" b="1" kern="0" spc="-4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Kết quả gợi ý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392108" y="5607844"/>
            <a:ext cx="4144363" cy="346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150" b="1" kern="0" spc="-6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Top-3</a:t>
            </a:r>
            <a:endParaRPr lang="en-US" sz="2150" dirty="0"/>
          </a:p>
        </p:txBody>
      </p:sp>
      <p:sp>
        <p:nvSpPr>
          <p:cNvPr id="25" name="Text 23"/>
          <p:cNvSpPr/>
          <p:nvPr/>
        </p:nvSpPr>
        <p:spPr>
          <a:xfrm>
            <a:off x="7087316" y="6056709"/>
            <a:ext cx="4753947" cy="192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6000"/>
              </a:lnSpc>
              <a:buNone/>
            </a:pPr>
            <a:r>
              <a:rPr lang="en-US" sz="105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việc phù hợp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44600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22. Hạn chế &amp; Hướng phát triển</a:t>
            </a:r>
            <a:endParaRPr lang="en-US" sz="2950" dirty="0"/>
          </a:p>
        </p:txBody>
      </p:sp>
      <p:sp>
        <p:nvSpPr>
          <p:cNvPr id="3" name="Shape 1"/>
          <p:cNvSpPr/>
          <p:nvPr/>
        </p:nvSpPr>
        <p:spPr>
          <a:xfrm>
            <a:off x="5624769" y="2095103"/>
            <a:ext cx="942058" cy="287139"/>
          </a:xfrm>
          <a:prstGeom prst="roundRect">
            <a:avLst>
              <a:gd name="adj" fmla="val 22118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738173" y="2151757"/>
            <a:ext cx="1324835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KẾT LUẬN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61475" y="2642096"/>
            <a:ext cx="10868745" cy="2540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1475" y="3116362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Hạn chế của dữ liệu và mô hình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661475" y="3600648"/>
            <a:ext cx="5203794" cy="1946672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Kỹ năng chi tiết chỉ xuất hiện trong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6.6%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tin, ảnh hưởng đến độ chính xác của đặc trưng kỹ năng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Dữ liệu thiên lệch địa lý: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TP.HCM ~50%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tin, trong khi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Đà Nẵng ~4%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Decision Tree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và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Random Forest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có dấu hiệu overfit; dùng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salary midpoint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56%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tin ẩn lương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332776" y="3116362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💡</a:t>
            </a: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Hướng phát triển trong tương lai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332776" y="3600648"/>
            <a:ext cx="5203794" cy="1946672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Crawler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truy cập sâu vào trang chi tiết từng tin, mở rộng số nguồn và cập nhật dữ liệu theo thời gian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Dùng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NLP/BERT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trích xuất đặc trưng ngữ nghĩa từ mô tả công việc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Thử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DBSCAN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/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Hierarchical Clustering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và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Hybrid Recommendation</a:t>
            </a:r>
            <a:endParaRPr lang="en-US" sz="14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2022971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CẢM ƠN THẦY CÔ VÀ CÁC BẠN</a:t>
            </a:r>
            <a:endParaRPr lang="en-US" sz="2950" dirty="0"/>
          </a:p>
        </p:txBody>
      </p:sp>
      <p:sp>
        <p:nvSpPr>
          <p:cNvPr id="3" name="Shape 1"/>
          <p:cNvSpPr/>
          <p:nvPr/>
        </p:nvSpPr>
        <p:spPr>
          <a:xfrm>
            <a:off x="5624769" y="2873474"/>
            <a:ext cx="942058" cy="287139"/>
          </a:xfrm>
          <a:prstGeom prst="roundRect">
            <a:avLst>
              <a:gd name="adj" fmla="val 22118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738173" y="2930128"/>
            <a:ext cx="1324835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KẾT LUẬN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61475" y="3420467"/>
            <a:ext cx="10868745" cy="2540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1475" y="3776563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ĐÃ LẮNG NGHE!</a:t>
            </a:r>
            <a:endParaRPr lang="en-US" sz="2950" dirty="0"/>
          </a:p>
        </p:txBody>
      </p:sp>
      <p:sp>
        <p:nvSpPr>
          <p:cNvPr id="7" name="Text 5"/>
          <p:cNvSpPr/>
          <p:nvPr/>
        </p:nvSpPr>
        <p:spPr>
          <a:xfrm>
            <a:off x="356682" y="4532511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Q&amp;A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2804</Words>
  <Application>Microsoft Office PowerPoint</Application>
  <PresentationFormat>Widescreen</PresentationFormat>
  <Paragraphs>354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Twemoji Mozilla</vt:lpstr>
      <vt:lpstr>Inter</vt:lpstr>
      <vt:lpstr>Inter Bold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Nguyễn Minh Tân</cp:lastModifiedBy>
  <cp:revision>2</cp:revision>
  <dcterms:created xsi:type="dcterms:W3CDTF">2026-08-13T13:59:02Z</dcterms:created>
  <dcterms:modified xsi:type="dcterms:W3CDTF">2026-08-13T14:01:25Z</dcterms:modified>
</cp:coreProperties>
</file>